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54257" y="477482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78347" y="4156010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1916" y="318444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84876" y="23779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91118" y="639446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72357" y="2234142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17908" y="85754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502" y="213455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4433" y="3197772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81940" y="6088892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19368" y="6406388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75444" y="1955254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55634" y="183526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537" y="349117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77726" y="155949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72605" y="1014098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104499" y="5965908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18081" y="562293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67403" y="4928983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99378" y="4940909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72500" y="6238864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2545" y="145129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95066" y="6508197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86473" y="72534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29981" y="90539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97725" y="3108169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6185" y="393694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00793" y="5157406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03506" y="542873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26164" y="190368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3278" y="459979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9658" y="2884220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02952" y="2258879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6398" y="6118652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98322" y="678755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18022" y="1723735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71549" y="305962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52749" y="423390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5942" y="347644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34175" y="453076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55564" y="3843213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52133" y="532987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05626" y="151652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83123" y="272286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96437" y="140011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17697" y="209345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82439" y="154862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66274" y="140484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847974" y="1410502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875038" y="596924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788100" y="2701146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15801" y="198261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60330" y="353092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824718" y="2126161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07964" y="5080549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81148" y="14985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92672" y="603002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821320" y="4247230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38585" y="185052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101" y="3781962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880132" y="25753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61092" y="673928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585548" y="357605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009776" y="1054308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140314" y="59330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97593" y="6239799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78132" y="211693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407275" y="318066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67720" y="3865910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451581" y="4268742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2279" y="291026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19765" y="5655205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256770" y="4130137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544129" y="248363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8571" y="272919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720298" y="151774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98576" y="6804327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689080" y="3600729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315478" y="80870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768842" y="576389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934210" y="196830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77807" y="71034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94288" y="451482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573952" y="5034916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175827" y="284249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885781" y="197291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200582" y="113536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749444" y="269044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227981" y="3189602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719310" y="96208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42452" y="643000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753299" y="474767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121868" y="247927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917905" y="384004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67586" y="248082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247640" y="12203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931099" y="662597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020380" y="6589353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718241" y="969372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3439" y="2025180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725270" y="364990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932897" y="461548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002901" y="263787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939587" y="2662681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76263" y="6600659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008794" y="268646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255980" y="334332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24241" y="5045302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195358" y="1805171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545909" y="3933586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46741" y="1536983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155992" y="1671144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365141" y="2355409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518144" y="546946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685526" y="1907789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88742" y="2745099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714119" y="254014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693620" y="4565293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998592" y="772120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41819" y="678020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2560320"/>
            <a:ext cx="73152" cy="1463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31520" y="2606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E61E2B"/>
                </a:solidFill>
                <a:latin typeface="Calibri"/>
              </a:rPr>
              <a:t>REFERAT  ·  RAUMFAHRT  ·  ZUKUNFT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" y="30175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F5F7FA"/>
                </a:solidFill>
                <a:latin typeface="Calibri"/>
              </a:rPr>
              <a:t>SpaceX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152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9AA3B2"/>
                </a:solidFill>
                <a:latin typeface="Calibri Light"/>
              </a:rPr>
              <a:t>Eine private Firma. Eine Vision: Mars.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31520" y="5852160"/>
            <a:ext cx="3383280" cy="0"/>
          </a:xfrm>
          <a:prstGeom prst="line">
            <a:avLst/>
          </a:prstGeom>
          <a:ln w="19050">
            <a:solidFill>
              <a:srgbClr val="E6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F5F7FA"/>
                </a:solidFill>
                <a:latin typeface="Calibri"/>
              </a:rPr>
              <a:t>JULIUS MÜLLER   ·   BEN HAMMEN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"/>
              </a:rPr>
              <a:t>Mai 2026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686800" y="457200"/>
            <a:ext cx="3017520" cy="1645920"/>
          </a:xfrm>
          <a:prstGeom prst="rect">
            <a:avLst/>
          </a:prstGeom>
          <a:solidFill>
            <a:srgbClr val="121826"/>
          </a:solidFill>
          <a:ln w="1587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8686800" y="457200"/>
            <a:ext cx="3017520" cy="164592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686800" y="457200"/>
            <a:ext cx="3017520" cy="164592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8686800" y="457200"/>
            <a:ext cx="1005840" cy="292608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86800" y="4572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5F7FA"/>
                </a:solidFill>
                <a:latin typeface="Calibri"/>
              </a:rPr>
              <a:t>LOGO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869680" y="1645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Bild: SpaceX-Logo (offiziell, transparent)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8774" y="76826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36752" y="6173763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0867" y="5083028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9524" y="4875492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5437" y="535588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734" y="312106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23291" y="225016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07148" y="3899812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07012" y="441033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76889" y="198074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64869" y="272749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59176" y="428006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15891" y="469670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57024" y="6160607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57035" y="296778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04229" y="6325044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41119" y="5493791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1069" y="2341279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6846" y="6679145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8411" y="386725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178332" y="4677343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63936" y="552713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36864" y="1393093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9140" y="2596803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59891" y="4715980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28920" y="5165773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31879" y="613148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88116" y="3075248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64588" y="657901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1294" y="6837214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81017" y="49290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0575" y="2290926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50075" y="891423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60075" y="2053799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95380" y="601430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79340" y="302173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287131" y="196651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1901" y="21260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4752" y="312976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36007" y="616384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WILLKOMMEN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11430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16459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5F7FA"/>
                </a:solidFill>
                <a:latin typeface="Calibri Light"/>
              </a:rPr>
              <a:t>Heute fliegen wir</a:t>
            </a:r>
          </a:p>
          <a:p>
            <a:pPr algn="l"/>
            <a:r>
              <a:rPr sz="6600" b="1" i="0">
                <a:solidFill>
                  <a:srgbClr val="F5F7FA"/>
                </a:solidFill>
                <a:latin typeface="Calibri Light"/>
              </a:rPr>
              <a:t>mit SpaceX.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72000"/>
            <a:ext cx="3474720" cy="15544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E61E2B"/>
                </a:solidFill>
                <a:latin typeface="Calibri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0749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Was steckt hinter dem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Namen SpaceX?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4572000"/>
            <a:ext cx="3474720" cy="15544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E61E2B"/>
                </a:solidFill>
                <a:latin typeface="Calibri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50749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Wie verändert die Firma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die Raumfahrt?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4572000"/>
            <a:ext cx="3474720" cy="15544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E61E2B"/>
                </a:solidFill>
                <a:latin typeface="Calibr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0749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Was bedeutet das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für uns – heute?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BEGRÜSSUNG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00 / 00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BEGRÜSSUNG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02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THEMENÜBERSICHT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F7FA"/>
                </a:solidFill>
                <a:latin typeface="Calibri Light"/>
              </a:rPr>
              <a:t>Unsere Reise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Was ist SpaceX?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Gründung &amp; Geschichte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Elon Musk – der Kopf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Mission &amp;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Die Raketen-Familie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Wiederverwendbarkeit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Dragon &amp; Crew Dragon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632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Starlink – Internet aus dem 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Meilensteine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069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Zukunft: Mars &amp; Mond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Was haben wir davon?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E61E2B"/>
                </a:solidFill>
                <a:latin typeface="Calibr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Kritik &amp; Diskussion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AA3B2"/>
                </a:solidFill>
                <a:latin typeface="Calibri"/>
              </a:rPr>
              <a:t>Dauer: ca. 30 Minuten   ·   Fragen am Ende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AGENDA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03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01   ·   WAS IST SPACEX?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F7FA"/>
                </a:solidFill>
                <a:latin typeface="Calibri Light"/>
              </a:rPr>
              <a:t>Eine Firma. Vier Worte.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697480" cy="237744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PRIVAT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Kein Staat. Eine Firma.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560320"/>
            <a:ext cx="2697480" cy="237744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WIEDER-</a:t>
            </a:r>
          </a:p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VERWENDBAR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Raketen landen. Erneut starten.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560320"/>
            <a:ext cx="2697480" cy="237744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GÜNSTIG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Kosten pro kg drastisch gesenkt.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560320"/>
            <a:ext cx="2697480" cy="237744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697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154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AMBITIONIERT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389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Ziel: Menschheit multi-planetar.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9EFF"/>
                </a:solidFill>
                <a:latin typeface="Calibri Light"/>
              </a:rPr>
              <a:t>Vollständiger Name: Space Exploration Technologies Corp.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01 · WAS IST SPACEX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04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02   ·   GRÜNDUNG &amp; GESCHICHTE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Vom Garagen-Start</a:t>
            </a:r>
          </a:p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zum Weltkonzern.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40080" y="4572000"/>
            <a:ext cx="10881360" cy="0"/>
          </a:xfrm>
          <a:prstGeom prst="line">
            <a:avLst/>
          </a:prstGeom>
          <a:ln w="25400">
            <a:solidFill>
              <a:srgbClr val="E6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30352" y="4462272"/>
            <a:ext cx="219456" cy="219456"/>
          </a:xfrm>
          <a:prstGeom prst="ellips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27432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2002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4320" y="48006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Gründung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in Kalifornien</a:t>
            </a:r>
          </a:p>
        </p:txBody>
      </p:sp>
      <p:sp>
        <p:nvSpPr>
          <p:cNvPr id="11" name="Oval 10"/>
          <p:cNvSpPr/>
          <p:nvPr/>
        </p:nvSpPr>
        <p:spPr>
          <a:xfrm>
            <a:off x="2706624" y="4462272"/>
            <a:ext cx="219456" cy="219456"/>
          </a:xfrm>
          <a:prstGeom prst="ellips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2008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48006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Falcon 1 –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erster Privat-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orbit</a:t>
            </a:r>
          </a:p>
        </p:txBody>
      </p:sp>
      <p:sp>
        <p:nvSpPr>
          <p:cNvPr id="14" name="Oval 13"/>
          <p:cNvSpPr/>
          <p:nvPr/>
        </p:nvSpPr>
        <p:spPr>
          <a:xfrm>
            <a:off x="4882896" y="4462272"/>
            <a:ext cx="219456" cy="219456"/>
          </a:xfrm>
          <a:prstGeom prst="ellips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8224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2012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48006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Dragon dockt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an ISS an</a:t>
            </a:r>
          </a:p>
        </p:txBody>
      </p:sp>
      <p:sp>
        <p:nvSpPr>
          <p:cNvPr id="17" name="Oval 16"/>
          <p:cNvSpPr/>
          <p:nvPr/>
        </p:nvSpPr>
        <p:spPr>
          <a:xfrm>
            <a:off x="7059168" y="4462272"/>
            <a:ext cx="219456" cy="219456"/>
          </a:xfrm>
          <a:prstGeom prst="ellips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2015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48006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1. Landung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einer Falcon 9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4462272"/>
            <a:ext cx="219456" cy="219456"/>
          </a:xfrm>
          <a:prstGeom prst="ellips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8006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Erste bemannte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Mission (Demo-2)</a:t>
            </a:r>
          </a:p>
        </p:txBody>
      </p:sp>
      <p:sp>
        <p:nvSpPr>
          <p:cNvPr id="23" name="Oval 22"/>
          <p:cNvSpPr/>
          <p:nvPr/>
        </p:nvSpPr>
        <p:spPr>
          <a:xfrm>
            <a:off x="11411712" y="4462272"/>
            <a:ext cx="219456" cy="219456"/>
          </a:xfrm>
          <a:prstGeom prst="ellips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A"/>
                </a:solidFill>
                <a:latin typeface="Calibri"/>
              </a:rPr>
              <a:t>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8006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Starship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fängt Booster</a:t>
            </a:r>
          </a:p>
          <a:p>
            <a:pPr algn="ctr"/>
            <a:r>
              <a:rPr sz="1100" b="0" i="0">
                <a:solidFill>
                  <a:srgbClr val="9AA3B2"/>
                </a:solidFill>
                <a:latin typeface="Calibri Light"/>
              </a:rPr>
              <a:t>zurück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A9EFF"/>
                </a:solidFill>
                <a:latin typeface="Calibri Light"/>
              </a:rPr>
              <a:t>Gründer: Elon Musk   ·   Startkapital: 100 Mio. $ aus PayPal-Verkauf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02 · GESCHICHTE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05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03   ·   ELON MUSK – DER KOPF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Der Mann hinter</a:t>
            </a:r>
          </a:p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der 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4114800" cy="3200400"/>
          </a:xfrm>
          <a:prstGeom prst="rect">
            <a:avLst/>
          </a:prstGeom>
          <a:solidFill>
            <a:srgbClr val="121826"/>
          </a:solidFill>
          <a:ln w="1587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2926080"/>
            <a:ext cx="411480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57200" y="2926080"/>
            <a:ext cx="411480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5F7FA"/>
                </a:solidFill>
                <a:latin typeface="Calibri"/>
              </a:rPr>
              <a:t>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Bild: Elon Musk (Portrait), CC-BY z.B. Wikipedia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175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GEBOREN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017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 Light"/>
              </a:rPr>
              <a:t>1971 in Pretoria, Südafrika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1187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ROLLE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118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 Light"/>
              </a:rPr>
              <a:t>Gründer, CEO &amp; Chief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ANDERE FIRMEN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 Light"/>
              </a:rPr>
              <a:t>Tesla · Neuralink · xAI ·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00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VERMÖGEN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800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 Light"/>
              </a:rPr>
              <a:t>geschätzt &gt; 300 Mrd. $ (Forbes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94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MOTTO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394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 Light"/>
              </a:rPr>
              <a:t>„Make humanity multiplanetary.“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03 · ELON MUSK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06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33012" y="1265414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0111" y="607639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35241" y="488878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02037" y="31453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15764" y="585989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45038" y="356112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7052" y="187266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1064" y="518936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5194" y="41598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39287" y="1117151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20198" y="453560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75466" y="4699778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28987" y="487881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51952" y="312389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947236" y="526712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85257" y="1727706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0785" y="358690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24097" y="3801586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7906" y="666373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259" y="686649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11335" y="4153337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30188" y="2415397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80815" y="4294403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38744" y="1274938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7788" y="560540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13779" y="661940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65120" y="2937509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29027" y="668481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70280" y="2264414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42625" y="545259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69083" y="2597174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29263" y="3738305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72506" y="560906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45961" y="298184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64541" y="414139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22307" y="1084984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75615" y="3279523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91163" y="376805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61367" y="1148619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71130" y="5925685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54192" y="3191372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92252" y="147822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48076" y="195736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83852" y="152960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679" y="1222022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95046" y="5115477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05398" y="5792280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88513" y="5672377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61210" y="6542858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83025" y="3339250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737064" y="4039306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4345" y="159894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92492" y="136149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78531" y="44103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509051" y="1268902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00362" y="5148401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88867" y="5151184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43626" y="211609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09648" y="3977470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88423" y="390900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232013" y="72045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748475" y="621051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610785" y="1354245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442936" y="4431344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577412" y="455646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001115" y="5393179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80786" y="434862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967591" y="647548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85988" y="6535186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77723" y="1871009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016258" y="3361184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54067" y="434226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6206" y="234353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48224" y="1624411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776075" y="3751617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117575" y="67560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05841" y="3943316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428816" y="4048789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016" y="4022114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789982" y="711173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04   ·   MISSION &amp; VISION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Warum gibt es SpaceX?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1">
                <a:solidFill>
                  <a:srgbClr val="F5F7FA"/>
                </a:solidFill>
                <a:latin typeface="Calibri Light"/>
              </a:rPr>
              <a:t>„Die Menschheit muss</a:t>
            </a:r>
          </a:p>
          <a:p>
            <a:pPr algn="l"/>
            <a:r>
              <a:rPr sz="3400" b="0" i="1">
                <a:solidFill>
                  <a:srgbClr val="F5F7FA"/>
                </a:solidFill>
                <a:latin typeface="Calibri Light"/>
              </a:rPr>
              <a:t>eine multiplanetare Spezies werden.“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3B2"/>
                </a:solidFill>
                <a:latin typeface="Calibri"/>
              </a:rPr>
              <a:t>— Elon Musk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846320"/>
            <a:ext cx="457200" cy="36576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4937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MISSION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534924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 Light"/>
              </a:rPr>
              <a:t>Raumfahrt billiger,</a:t>
            </a:r>
          </a:p>
          <a:p>
            <a:pPr algn="l"/>
            <a:r>
              <a:rPr sz="1700" b="0" i="0">
                <a:solidFill>
                  <a:srgbClr val="F5F7FA"/>
                </a:solidFill>
                <a:latin typeface="Calibri Light"/>
              </a:rPr>
              <a:t>zuverlässiger, häufiger.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97680" y="4846320"/>
            <a:ext cx="457200" cy="36576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0" y="4937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VISION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0" y="534924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 Light"/>
              </a:rPr>
              <a:t>Eine selbsterhaltende</a:t>
            </a:r>
          </a:p>
          <a:p>
            <a:pPr algn="l"/>
            <a:r>
              <a:rPr sz="1700" b="0" i="0">
                <a:solidFill>
                  <a:srgbClr val="F5F7FA"/>
                </a:solidFill>
                <a:latin typeface="Calibri Light"/>
              </a:rPr>
              <a:t>Kolonie auf dem Mars.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38160" y="4846320"/>
            <a:ext cx="457200" cy="36576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38160" y="4937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METHODE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38160" y="534924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 Light"/>
              </a:rPr>
              <a:t>Wiederverwendbare</a:t>
            </a:r>
          </a:p>
          <a:p>
            <a:pPr algn="l"/>
            <a:r>
              <a:rPr sz="1700" b="0" i="0">
                <a:solidFill>
                  <a:srgbClr val="F5F7FA"/>
                </a:solidFill>
                <a:latin typeface="Calibri Light"/>
              </a:rPr>
              <a:t>Raketen + Skalierung.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04 · VISION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07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05   ·   DIE RAKETEN-FAMILIE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Vier Raketen.</a:t>
            </a:r>
          </a:p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Vier Größenklassen.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1640" y="5010308"/>
            <a:ext cx="457200" cy="476092"/>
          </a:xfrm>
          <a:prstGeom prst="rect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1691640" y="4644548"/>
            <a:ext cx="457200" cy="411480"/>
          </a:xfrm>
          <a:prstGeom prst="triangle">
            <a:avLst/>
          </a:prstGeom>
          <a:solidFill>
            <a:srgbClr val="9AA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0080" y="5486400"/>
            <a:ext cx="2560320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577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F5F7FA"/>
                </a:solidFill>
                <a:latin typeface="Calibri"/>
              </a:rPr>
              <a:t>FALCON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Höhe: 21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Nutzlast (LEO): 0,67 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3899425"/>
            <a:ext cx="457200" cy="158697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4526280" y="3533665"/>
            <a:ext cx="457200" cy="411480"/>
          </a:xfrm>
          <a:prstGeom prst="triangl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74720" y="5486400"/>
            <a:ext cx="2560320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74720" y="5577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F5F7FA"/>
                </a:solidFill>
                <a:latin typeface="Calibri"/>
              </a:rPr>
              <a:t>FALCON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943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Höhe: 70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6263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Nutzlast (LEO): 22,8 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899425"/>
            <a:ext cx="457200" cy="1586975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7360920" y="3533665"/>
            <a:ext cx="457200" cy="411480"/>
          </a:xfrm>
          <a:prstGeom prst="triangl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309360" y="5486400"/>
            <a:ext cx="2560320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0" y="5577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F5F7FA"/>
                </a:solidFill>
                <a:latin typeface="Calibri"/>
              </a:rPr>
              <a:t>FALCON HEAVY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943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Höhe: 70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6263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Nutzlast (LEO): 63,8 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2743200"/>
            <a:ext cx="457200" cy="274320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10195560" y="2377440"/>
            <a:ext cx="457200" cy="411480"/>
          </a:xfrm>
          <a:prstGeom prst="triangle">
            <a:avLst/>
          </a:prstGeom>
          <a:solidFill>
            <a:srgbClr val="E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144000" y="5486400"/>
            <a:ext cx="2560320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0" y="5577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F5F7FA"/>
                </a:solidFill>
                <a:latin typeface="Calibri"/>
              </a:rPr>
              <a:t>STARSHIP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943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Höhe: 121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263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3B2"/>
                </a:solidFill>
                <a:latin typeface="Calibri"/>
              </a:rPr>
              <a:t>Nutzlast (LEO): &gt;100 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05 · RAKETEN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08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05   ·   FALCON 9 – DAS ARBEITSPFERD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F7FA"/>
                </a:solidFill>
                <a:latin typeface="Calibri Light"/>
              </a:rPr>
              <a:t>Falcon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9AA3B2"/>
                </a:solidFill>
                <a:latin typeface="Calibri Light"/>
              </a:rPr>
              <a:t>Die meistgenutzte Rakete der Welt.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029200" cy="3200400"/>
          </a:xfrm>
          <a:prstGeom prst="rect">
            <a:avLst/>
          </a:prstGeom>
          <a:solidFill>
            <a:srgbClr val="121826"/>
          </a:solidFill>
          <a:ln w="1587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2926080"/>
            <a:ext cx="502920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57200" y="2926080"/>
            <a:ext cx="502920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5F7FA"/>
                </a:solidFill>
                <a:latin typeface="Calibri"/>
              </a:rPr>
              <a:t>BILD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Bild/Video: Falcon 9 Start (von SpaceX Flickr, CC-BY-NC)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17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HÖHE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17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70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2043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TRIEBWERKE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520439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9 × Merlin (Stufe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SCHUB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0233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7,6 MN beim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NUTZLAST LEO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526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22,8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29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WIEDERVERWENDUNG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29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bis 20 Flüge pro Booster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532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KOSTEN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532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 Light"/>
              </a:rPr>
              <a:t>ca. 67 Mio. $ pro Start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05 · FALCON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09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06   ·   WIEDERVERWENDBARKEIT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Die Idee, die alles</a:t>
            </a:r>
          </a:p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verändert 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5486400" cy="3017520"/>
          </a:xfrm>
          <a:prstGeom prst="rect">
            <a:avLst/>
          </a:prstGeom>
          <a:solidFill>
            <a:srgbClr val="12141A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9AA3B2"/>
                </a:solidFill>
                <a:latin typeface="Calibri"/>
              </a:rPr>
              <a:t>VORHER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 Light"/>
              </a:rPr>
              <a:t>Rakete = Einweg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jede Mission braucht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   neue Hardware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~10.000 $ / kg in den Orbit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wenige Starts pro Jahr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5486400" cy="3017520"/>
          </a:xfrm>
          <a:prstGeom prst="rect">
            <a:avLst/>
          </a:prstGeom>
          <a:solidFill>
            <a:srgbClr val="180E12"/>
          </a:solidFill>
          <a:ln w="1270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29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HEUTE (SPACEX)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 Light"/>
              </a:rPr>
              <a:t>Booster landet zurück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• Booster fliegt 10 – 20 ×</a:t>
            </a:r>
          </a:p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• ~1.500 $ / kg in den Orbit</a:t>
            </a:r>
          </a:p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• &gt; 130 Starts allein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A9EFF"/>
                </a:solidFill>
                <a:latin typeface="Calibri Light"/>
              </a:rPr>
              <a:t>≈ 85 % günstigere Kosten pro Kilogramm in den Orbit (Quelle: NASA / SpaceX 2024).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06 · WIEDERVERWENDBARKEIT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669" y="4695711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20162" y="492734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88401" y="3990991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23476" y="789564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8927" y="760599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44351" y="35131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99992" y="5485499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06381" y="1321156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4766" y="52986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91165" y="2029565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83528" y="273714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76948" y="435472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35044" y="4192401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25874" y="3836361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24614" y="462436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61324" y="264473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9285" y="24957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10713" y="335879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4621" y="560581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2" y="1790981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85078" y="3149613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2931" y="61269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30111" y="6530622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52123" y="73101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4166" y="343975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33703" y="5930880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4844" y="390019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43360" y="469170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37345" y="1599576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33520" y="5399873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4540" y="352955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408" y="6739504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9348" y="176756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0194" y="5384107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6451" y="122774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33178" y="80322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71504" y="3239428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511915" y="1750981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77080" y="130099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36159" y="5218966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52776" y="4057775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77633" y="1533670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14548" y="191581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170040" y="1592163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52487" y="4646711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13081" y="4047639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70878" y="39763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219" y="4297952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0881" y="328507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07044" y="4118802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943283" y="604276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831854" y="4020659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32593" y="515314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63484" y="1711098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0217" y="225816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78601" y="50713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730535" y="3093595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07521" y="773363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55547" y="2776335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96773" y="4378341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96470" y="29427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997385" y="588016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56669" y="5019514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090572" y="564306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50329" y="114593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601601" y="4580979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45997" y="6183143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173395" y="6654403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424835" y="5747420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98668" y="6631463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05   ·   STARSHIP – DIE ZUKUNFT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5F7FA"/>
                </a:solidFill>
                <a:latin typeface="Calibri Light"/>
              </a:rPr>
              <a:t>Starship.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9AA3B2"/>
                </a:solidFill>
                <a:latin typeface="Calibri Light"/>
              </a:rPr>
              <a:t>Die größte Rakete, die je gebaut wurde.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0" y="3108960"/>
            <a:ext cx="4846320" cy="3200400"/>
          </a:xfrm>
          <a:prstGeom prst="rect">
            <a:avLst/>
          </a:prstGeom>
          <a:solidFill>
            <a:srgbClr val="121826"/>
          </a:solidFill>
          <a:ln w="1587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858000" y="3108960"/>
            <a:ext cx="484632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858000" y="3108960"/>
            <a:ext cx="484632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858000" y="3108960"/>
            <a:ext cx="1005840" cy="292608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0" y="310896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5F7FA"/>
                </a:solidFill>
                <a:latin typeface="Calibri"/>
              </a:rPr>
              <a:t>BILD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0880" y="58521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Bild: Starship Vollstack auf Starbase (z.B. SpaceX Flickr)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1E2B"/>
                </a:solidFill>
                <a:latin typeface="Calibri"/>
              </a:rPr>
              <a:t>121 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77440" y="318211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Höher als die Freiheitsstatue.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3675887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1E2B"/>
                </a:solidFill>
                <a:latin typeface="Calibri"/>
              </a:rPr>
              <a:t>&gt;100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77440" y="37490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Nutzlast in den niedrigen Orbit.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424281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1E2B"/>
                </a:solidFill>
                <a:latin typeface="Calibri"/>
              </a:rPr>
              <a:t>33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77440" y="431596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Raptor-Triebwerke in der Super Heavy.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480974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1E2B"/>
                </a:solidFill>
                <a:latin typeface="Calibri"/>
              </a:rPr>
              <a:t>Voll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77440" y="4882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wiederverwendbar – Booster &amp; Schiff.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53766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1E2B"/>
                </a:solidFill>
                <a:latin typeface="Calibri"/>
              </a:rPr>
              <a:t>Ziel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77440" y="54498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Mond (NASA Artemis) &amp; Mars.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05 · STARSHIP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07   ·   DRAGON &amp; CREW DRAGON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Dragon – Fracht &amp; Menschen.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5486400" cy="365760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E61E2B"/>
                </a:solidFill>
                <a:latin typeface="Calibri"/>
              </a:rPr>
              <a:t>CARGO DRAGON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F7FA"/>
                </a:solidFill>
                <a:latin typeface="Calibri Light"/>
              </a:rPr>
              <a:t>Versorgt die ISS</a:t>
            </a:r>
          </a:p>
          <a:p>
            <a:pPr algn="l"/>
            <a:r>
              <a:rPr sz="2400" b="1" i="0">
                <a:solidFill>
                  <a:srgbClr val="F5F7FA"/>
                </a:solidFill>
                <a:latin typeface="Calibri Light"/>
              </a:rPr>
              <a:t>seit 2012.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• bis zu 6.000 kg Fracht</a:t>
            </a:r>
          </a:p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• automatisches Andocken</a:t>
            </a:r>
          </a:p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• Rückkehr mit Experimenten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560320"/>
            <a:ext cx="5486400" cy="365760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E61E2B"/>
                </a:solidFill>
                <a:latin typeface="Calibri"/>
              </a:rPr>
              <a:t>CREW DRAGON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F7FA"/>
                </a:solidFill>
                <a:latin typeface="Calibri Light"/>
              </a:rPr>
              <a:t>Bringt Astronauten</a:t>
            </a:r>
          </a:p>
          <a:p>
            <a:pPr algn="l"/>
            <a:r>
              <a:rPr sz="2400" b="1" i="0">
                <a:solidFill>
                  <a:srgbClr val="F5F7FA"/>
                </a:solidFill>
                <a:latin typeface="Calibri Light"/>
              </a:rPr>
              <a:t>ins All – seit 2020.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• Platz für 4 Personen</a:t>
            </a:r>
          </a:p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• erste Privat-Crew zur ISS</a:t>
            </a:r>
          </a:p>
          <a:p>
            <a:pPr algn="l"/>
            <a:r>
              <a:rPr sz="1300" b="0" i="0">
                <a:solidFill>
                  <a:srgbClr val="9AA3B2"/>
                </a:solidFill>
                <a:latin typeface="Calibri Light"/>
              </a:rPr>
              <a:t>• Inspiration4 (2021, zivile Crew)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07 · DRAGON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45441" y="2439052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15934" y="5469454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8933" y="1888803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43616" y="109230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88772" y="6246930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40716" y="1059453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2135" y="2313887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3186" y="3783814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40541" y="6658629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26335" y="4083452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07116" y="562647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14679" y="2632021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4568" y="4988496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91758" y="3761262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62470" y="3694172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39016" y="449609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9510" y="1505016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49866" y="311311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58583" y="2349956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83851" y="411760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85108" y="1977013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47841" y="109975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25856" y="527715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91" y="6030419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73276" y="1189047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67827" y="536078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37226" y="617615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06752" y="5917267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30076" y="6010530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09492" y="5062524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7281" y="1775999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45457" y="5887083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28911" y="4890770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26632" y="1527993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59574" y="6605202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83413" y="189211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99860" y="539829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15323" y="583140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55575" y="541142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9904" y="1061028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45844" y="252919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20341" y="5863703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58016" y="307608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63414" y="2808109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91219" y="4469171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2207" y="5616189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2504" y="3155523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635331" y="6193924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36372" y="573820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27823" y="493260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097972" y="496681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19991" y="537461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9329" y="265863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55541" y="57527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8715" y="5480615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41438" y="403269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584568" y="51420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97438" y="114914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877949" y="309168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66628" y="2544711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880988" y="27996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72026" y="302850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818645" y="489295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889507" y="4488344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24993" y="270712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7819" y="41430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12378" y="752324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80566" y="289384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702" y="6026163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05066" y="4361202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17958" y="3297440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178972" y="43575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301189" y="447826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653004" y="251249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97126" y="218748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73844" y="255062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61435" y="89887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51304" y="76279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19395" y="1346701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2012822" y="587896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35664" y="79415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504350" y="395294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530841" y="658360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048663" y="30802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28941" y="2172849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797763" y="207451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626985" y="639078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86458" y="1300830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04134" y="388528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980605" y="399385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12273" y="28682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998349" y="1050897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879600" y="111504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337163" y="479139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29475" y="1797683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889068" y="5799077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919348" y="184788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002228" y="5196172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98969" y="6140254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318629" y="1893447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201301" y="788014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897903" y="422784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539463" y="6373414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698425" y="510134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754125" y="3583508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13482" y="842145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831295" y="685339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431243" y="2892236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193521" y="2378228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15063" y="5979834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2183649" y="149670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47212" y="4586597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235049" y="6168499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750263" y="298890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580705" y="418813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943581" y="56537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705651" y="2837493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090221" y="1725323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296544" y="486501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950768" y="2517769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08   ·   STARLINK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5F7FA"/>
                </a:solidFill>
                <a:latin typeface="Calibri Light"/>
              </a:rPr>
              <a:t>Starlink.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9AA3B2"/>
                </a:solidFill>
                <a:latin typeface="Calibri Light"/>
              </a:rPr>
              <a:t>Internet aus dem All – für die ganze Welt.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29260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57200" y="3474720"/>
            <a:ext cx="2697480" cy="219456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7200" y="365760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4A9EFF"/>
                </a:solidFill>
                <a:latin typeface="Calibri"/>
              </a:rPr>
              <a:t>&gt; 7.000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48463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aktive Satelliten</a:t>
            </a:r>
          </a:p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(Stand 2025)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37560" y="3474720"/>
            <a:ext cx="2697480" cy="219456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37560" y="365760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4A9EFF"/>
                </a:solidFill>
                <a:latin typeface="Calibri"/>
              </a:rPr>
              <a:t>~ 550 km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37560" y="48463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Flughöhe</a:t>
            </a:r>
          </a:p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(niedriger Orbit)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17920" y="3474720"/>
            <a:ext cx="2697480" cy="219456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17920" y="365760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4A9EFF"/>
                </a:solidFill>
                <a:latin typeface="Calibri"/>
              </a:rPr>
              <a:t>100+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48463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Länder mit</a:t>
            </a:r>
          </a:p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verfügbarem Dienst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98280" y="3474720"/>
            <a:ext cx="2697480" cy="219456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98280" y="365760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4A9EFF"/>
                </a:solidFill>
                <a:latin typeface="Calibri"/>
              </a:rPr>
              <a:t>~50 ms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98280" y="48463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Latenz – fast wie</a:t>
            </a:r>
          </a:p>
          <a:p>
            <a:pPr algn="ctr"/>
            <a:r>
              <a:rPr sz="1300" b="0" i="0">
                <a:solidFill>
                  <a:srgbClr val="F5F7FA"/>
                </a:solidFill>
                <a:latin typeface="Calibri Light"/>
              </a:rPr>
              <a:t>Glasfaser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AA3B2"/>
                </a:solidFill>
                <a:latin typeface="Calibri Light"/>
              </a:rPr>
              <a:t>Auch im Ukraine-Krieg eingesetzt – politisch &amp; militärisch hoch relevant.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08 · STARLINK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MITMACH-FRAGE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F7FA"/>
                </a:solidFill>
                <a:latin typeface="Calibri Light"/>
              </a:rPr>
              <a:t>Wie hoch ist</a:t>
            </a:r>
          </a:p>
          <a:p>
            <a:pPr algn="l"/>
            <a:r>
              <a:rPr sz="4400" b="1" i="0">
                <a:solidFill>
                  <a:srgbClr val="F5F7FA"/>
                </a:solidFill>
                <a:latin typeface="Calibri Light"/>
              </a:rPr>
              <a:t>die Starship-Rakete?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640080" cy="41148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6576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694176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72 m   – wie Falcon 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160520"/>
            <a:ext cx="640080" cy="41148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1605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197096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98 m   – wie eine Saturn 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663440"/>
            <a:ext cx="640080" cy="41148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6634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700016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121 m – höher als die Freiheitsstatue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5166360"/>
            <a:ext cx="640080" cy="41148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166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202936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5F7FA"/>
                </a:solidFill>
                <a:latin typeface="Calibri Light"/>
              </a:rPr>
              <a:t>180 m – höher als der Kölner 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AA3B2"/>
                </a:solidFill>
                <a:latin typeface="Calibri Light"/>
              </a:rPr>
              <a:t>→ Klick zur Auflösung auf der nächsten Folie.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INTERAKTIV ·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09   ·   MEILENSTEINE IN ZAHLEN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Zahlen, die</a:t>
            </a:r>
          </a:p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sprechen.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2697480" cy="24688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411480" cy="54864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F7FA"/>
                </a:solidFill>
                <a:latin typeface="Calibri"/>
              </a:rPr>
              <a:t>450+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erfolgreiche</a:t>
            </a:r>
          </a:p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Falcon-Starts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474720"/>
            <a:ext cx="2697480" cy="24688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3474720"/>
            <a:ext cx="411480" cy="54864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749039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F7FA"/>
                </a:solidFill>
                <a:latin typeface="Calibri"/>
              </a:rPr>
              <a:t>~ 87 %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029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Anteil an allen</a:t>
            </a:r>
          </a:p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weltweiten Orbit-</a:t>
            </a:r>
          </a:p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Starts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74720"/>
            <a:ext cx="2697480" cy="24688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411480" cy="54864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749039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F7FA"/>
                </a:solidFill>
                <a:latin typeface="Calibri"/>
              </a:rPr>
              <a:t>&gt; 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29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Astronauten zur</a:t>
            </a:r>
          </a:p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ISS gebracht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474720"/>
            <a:ext cx="2697480" cy="246888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3474720"/>
            <a:ext cx="411480" cy="54864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749039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F7FA"/>
                </a:solidFill>
                <a:latin typeface="Calibri"/>
              </a:rPr>
              <a:t>400+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50292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Landungen einer</a:t>
            </a:r>
          </a:p>
          <a:p>
            <a:pPr algn="ctr"/>
            <a:r>
              <a:rPr sz="1300" b="0" i="0">
                <a:solidFill>
                  <a:srgbClr val="9AA3B2"/>
                </a:solidFill>
                <a:latin typeface="Calibri Light"/>
              </a:rPr>
              <a:t>Falcon-Erststufe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AA3B2"/>
                </a:solidFill>
                <a:latin typeface="Calibri Light"/>
              </a:rPr>
              <a:t>Quellen: SpaceX, NASA, BryceTech Startreport 2024.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09 · MEILENSTEINE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09   ·   WER MACHT EIGENTLICH KONKURRENZ?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F7FA"/>
                </a:solidFill>
                <a:latin typeface="Calibri Light"/>
              </a:rPr>
              <a:t>Im Vergleich.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FIRMA / ORG.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HEIMAT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STÄRKE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61E2B"/>
                </a:solidFill>
                <a:latin typeface="Calibri"/>
              </a:rPr>
              <a:t>SCHWÄCHE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3154680"/>
            <a:ext cx="11274552" cy="0"/>
          </a:xfrm>
          <a:prstGeom prst="line">
            <a:avLst/>
          </a:prstGeom>
          <a:ln w="12700">
            <a:solidFill>
              <a:srgbClr val="E61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2461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 Light"/>
              </a:rPr>
              <a:t>SpaceX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461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USA (privat)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461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Wiederverwendbarkeit,</a:t>
            </a:r>
          </a:p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hohe Taktung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regulatorische</a:t>
            </a:r>
          </a:p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Konflikte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840480"/>
            <a:ext cx="11274552" cy="0"/>
          </a:xfrm>
          <a:prstGeom prst="line">
            <a:avLst/>
          </a:prstGeom>
          <a:ln w="6350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38862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 Light"/>
              </a:rPr>
              <a:t>NASA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862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USA (staatlich)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8862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Erfahrung, Wissenschaft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862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langsame Entwicklung,</a:t>
            </a:r>
          </a:p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kostspielig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480560"/>
            <a:ext cx="11274552" cy="0"/>
          </a:xfrm>
          <a:prstGeom prst="line">
            <a:avLst/>
          </a:prstGeom>
          <a:ln w="6350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45262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 Light"/>
              </a:rPr>
              <a:t>Blue Origin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5262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USA (privat)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5262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starker Investor</a:t>
            </a:r>
          </a:p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(Jeff Bezos)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262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wenige Orbit-Flüge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5120640"/>
            <a:ext cx="11274552" cy="0"/>
          </a:xfrm>
          <a:prstGeom prst="line">
            <a:avLst/>
          </a:prstGeom>
          <a:ln w="6350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51663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 Light"/>
              </a:rPr>
              <a:t>ESA / Arianespace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1663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Europa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1663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Wissenschaftliche</a:t>
            </a:r>
          </a:p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Missionen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1663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wenig Wiederverwendbarkeit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5760720"/>
            <a:ext cx="11274552" cy="0"/>
          </a:xfrm>
          <a:prstGeom prst="line">
            <a:avLst/>
          </a:prstGeom>
          <a:ln w="6350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5806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 Light"/>
              </a:rPr>
              <a:t>CNSA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806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China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806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wachsendes Programm,</a:t>
            </a:r>
          </a:p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eigene Raumstation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806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3B2"/>
                </a:solidFill>
                <a:latin typeface="Calibri Light"/>
              </a:rPr>
              <a:t>weniger transparent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WETTBEWERB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57436" y="347429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59107" y="1465391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62806" y="5548083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1924" y="208795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39156" y="211714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46223" y="5741454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07561" y="462366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7813" y="1265970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76649" y="6725935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3863" y="4529540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16835" y="580311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3447" y="4255444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65368" y="1187886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90446" y="282177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4359" y="4795791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9901" y="421910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32074" y="649592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08858" y="98221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70308" y="442010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2878" y="53886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700" y="4660261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72413" y="2098596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35477" y="267495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78960" y="4822721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22239" y="8190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2376" y="3918812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9230" y="5310844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26755" y="2598690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000887" y="406768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65450" y="4406105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61431" y="4067541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9518" y="153751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30029" y="567329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2683" y="450449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04307" y="41475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56795" y="579930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30203" y="3386335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95607" y="714319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55125" y="1886900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63301" y="137077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161246" y="4083689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61821" y="186624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51468" y="5258053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6704" y="630598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02423" y="266963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035468" y="238051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27596" y="4357412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15448" y="485351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77201" y="514201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888410" y="6331573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78238" y="2982282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567400" y="435063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76286" y="1611361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85690" y="6417213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78526" y="3737609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996835" y="4608473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03004" y="2468240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37349" y="3920609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44169" y="43454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84380" y="5596383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62450" y="946347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56876" y="5135988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38866" y="3819845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893484" y="251080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82467" y="489444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03604" y="157772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20369" y="299387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752212" y="3495072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20691" y="6292790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62467" y="5254927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458947" y="269814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134957" y="4516261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753142" y="371229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193914" y="618283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209613" y="574512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133296" y="1075408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597085" y="127216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313078" y="3670238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779915" y="5070262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382174" y="119669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10   ·   ZUKUNFT – MARS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5F7FA"/>
                </a:solidFill>
                <a:latin typeface="Calibri Light"/>
              </a:rPr>
              <a:t>Ziel: Mars.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9AA3B2"/>
                </a:solidFill>
                <a:latin typeface="Calibri Light"/>
              </a:rPr>
              <a:t>Eine Stadt auf einem anderen Planeten – bis 2050?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3017520"/>
            <a:ext cx="4846320" cy="3291840"/>
          </a:xfrm>
          <a:prstGeom prst="rect">
            <a:avLst/>
          </a:prstGeom>
          <a:solidFill>
            <a:srgbClr val="121826"/>
          </a:solidFill>
          <a:ln w="1587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6858000" y="3017520"/>
            <a:ext cx="4846320" cy="329184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858000" y="3017520"/>
            <a:ext cx="4846320" cy="329184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858000" y="3017520"/>
            <a:ext cx="1005840" cy="292608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30175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5F7FA"/>
                </a:solidFill>
                <a:latin typeface="Calibri"/>
              </a:rPr>
              <a:t>ANIMATION/BILD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40880" y="58521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Bild: Mars-Oberfläche oder SpaceX-Konzept</a:t>
            </a:r>
          </a:p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(NASA Image Library, CC0)</a:t>
            </a:r>
          </a:p>
        </p:txBody>
      </p:sp>
      <p:sp>
        <p:nvSpPr>
          <p:cNvPr id="93" name="Oval 92"/>
          <p:cNvSpPr/>
          <p:nvPr/>
        </p:nvSpPr>
        <p:spPr>
          <a:xfrm>
            <a:off x="662940" y="3131820"/>
            <a:ext cx="502920" cy="502920"/>
          </a:xfrm>
          <a:prstGeom prst="ellipse">
            <a:avLst/>
          </a:prstGeom>
          <a:noFill/>
          <a:ln w="19050">
            <a:solidFill>
              <a:srgbClr val="E61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2940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1E2B"/>
                </a:solidFill>
                <a:latin typeface="Calibri Light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54480" y="3108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PHASE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54480" y="3383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Unbemannte Vorrats-</a:t>
            </a:r>
          </a:p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Flüge mit Starship</a:t>
            </a:r>
          </a:p>
        </p:txBody>
      </p:sp>
      <p:sp>
        <p:nvSpPr>
          <p:cNvPr id="97" name="Oval 96"/>
          <p:cNvSpPr/>
          <p:nvPr/>
        </p:nvSpPr>
        <p:spPr>
          <a:xfrm>
            <a:off x="662940" y="3909060"/>
            <a:ext cx="502920" cy="502920"/>
          </a:xfrm>
          <a:prstGeom prst="ellipse">
            <a:avLst/>
          </a:prstGeom>
          <a:noFill/>
          <a:ln w="19050">
            <a:solidFill>
              <a:srgbClr val="E61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2940" y="39090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1E2B"/>
                </a:solidFill>
                <a:latin typeface="Calibri Light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5448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PHASE 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54480" y="41605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Erste Crew zum Mars</a:t>
            </a:r>
          </a:p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(Ziel: Ende 2020er)</a:t>
            </a:r>
          </a:p>
        </p:txBody>
      </p:sp>
      <p:sp>
        <p:nvSpPr>
          <p:cNvPr id="101" name="Oval 100"/>
          <p:cNvSpPr/>
          <p:nvPr/>
        </p:nvSpPr>
        <p:spPr>
          <a:xfrm>
            <a:off x="662940" y="4686300"/>
            <a:ext cx="502920" cy="502920"/>
          </a:xfrm>
          <a:prstGeom prst="ellipse">
            <a:avLst/>
          </a:prstGeom>
          <a:noFill/>
          <a:ln w="19050">
            <a:solidFill>
              <a:srgbClr val="E61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62940" y="46863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1E2B"/>
                </a:solidFill>
                <a:latin typeface="Calibri Light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5448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PHASE 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54480" y="49377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Treibstoff-Produktion</a:t>
            </a:r>
          </a:p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aus CO₂ und Wasser</a:t>
            </a:r>
          </a:p>
        </p:txBody>
      </p:sp>
      <p:sp>
        <p:nvSpPr>
          <p:cNvPr id="105" name="Oval 104"/>
          <p:cNvSpPr/>
          <p:nvPr/>
        </p:nvSpPr>
        <p:spPr>
          <a:xfrm>
            <a:off x="662940" y="5463539"/>
            <a:ext cx="502920" cy="502920"/>
          </a:xfrm>
          <a:prstGeom prst="ellipse">
            <a:avLst/>
          </a:prstGeom>
          <a:noFill/>
          <a:ln w="19050">
            <a:solidFill>
              <a:srgbClr val="E61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2940" y="54635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1E2B"/>
                </a:solidFill>
                <a:latin typeface="Calibri Light"/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54480" y="5440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PHASE 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54480" y="571499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Selbsterhaltende</a:t>
            </a:r>
          </a:p>
          <a:p>
            <a:pPr algn="l"/>
            <a:r>
              <a:rPr sz="1400" b="0" i="0">
                <a:solidFill>
                  <a:srgbClr val="F5F7FA"/>
                </a:solidFill>
                <a:latin typeface="Calibri Light"/>
              </a:rPr>
              <a:t>Kolonie – ~1 Mio Menschen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10 · MARS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11   ·   MOND – ARTEMIS-PROGRAMM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Zuerst aber:</a:t>
            </a:r>
          </a:p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zurück zum Mond.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4572000" cy="3200400"/>
          </a:xfrm>
          <a:prstGeom prst="rect">
            <a:avLst/>
          </a:prstGeom>
          <a:solidFill>
            <a:srgbClr val="121826"/>
          </a:solidFill>
          <a:ln w="1587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2926080"/>
            <a:ext cx="457200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57200" y="2926080"/>
            <a:ext cx="4572000" cy="3200400"/>
          </a:xfrm>
          <a:prstGeom prst="line">
            <a:avLst/>
          </a:prstGeom>
          <a:ln w="6350">
            <a:solidFill>
              <a:srgbClr val="22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5F7FA"/>
                </a:solidFill>
                <a:latin typeface="Calibri"/>
              </a:rPr>
              <a:t>BILD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 Light"/>
              </a:rPr>
              <a:t>Bild: Mond / Starship HLS Konzept (NASA)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260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Calibri Light"/>
              </a:rPr>
              <a:t>Artemis III (NASA, ab 2027)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74720"/>
            <a:ext cx="6217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Erste Mondlandung seit 1972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SpaceX baut die Landefähre („Starship HLS“)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Vertragsvolumen: ca. 4 Mrd. $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Erstmals soll eine Frau auf dem Mond landen</a:t>
            </a:r>
          </a:p>
          <a:p>
            <a:pPr algn="l"/>
            <a:r>
              <a:rPr sz="1400" b="0" i="0">
                <a:solidFill>
                  <a:srgbClr val="9AA3B2"/>
                </a:solidFill>
                <a:latin typeface="Calibri Light"/>
              </a:rPr>
              <a:t>• Ziel: dauerhafte Mond-Basis am Südpol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11 · MOND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12   ·   WAS HABEN WIR DAVON?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 Light"/>
              </a:rPr>
              <a:t>Was bringt uns das</a:t>
            </a:r>
          </a:p>
          <a:p>
            <a:pPr algn="l"/>
            <a:r>
              <a:rPr sz="3800" b="1" i="0">
                <a:solidFill>
                  <a:srgbClr val="F5F7FA"/>
                </a:solidFill>
                <a:latin typeface="Calibri Light"/>
              </a:rPr>
              <a:t>hier auf der Erde?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61E2B"/>
                </a:solidFill>
                <a:latin typeface="Calibri"/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"/>
              </a:rPr>
              <a:t>Internet überall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Starlink bringt Internet in Dörfer, Wüsten</a:t>
            </a:r>
          </a:p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oder Krisengebiete – ohne Kabel.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61E2B"/>
                </a:solidFill>
                <a:latin typeface="Calibri"/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"/>
              </a:rPr>
              <a:t>Wissenschaft auf der 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Experimente in Schwerelosigkeit liefern Daten</a:t>
            </a:r>
          </a:p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für Medizin, Werkstoffe, Biologie.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61E2B"/>
                </a:solidFill>
                <a:latin typeface="Calibri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"/>
              </a:rPr>
              <a:t>Erdbeobachtung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Wetter, Klima, Landwirtschaft – immer mehr</a:t>
            </a:r>
          </a:p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kleine Satelliten machen Daten billiger.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61E2B"/>
                </a:solidFill>
                <a:latin typeface="Calibri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"/>
              </a:rPr>
              <a:t>Günstiger Zugang ins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84048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Forschung von Unis und Start-ups wird durch</a:t>
            </a:r>
          </a:p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fallende Startpreise plötzlich machbar.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61E2B"/>
                </a:solidFill>
                <a:latin typeface="Calibri"/>
              </a:rPr>
              <a:t>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"/>
              </a:rPr>
              <a:t>Neue Berufe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9377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Raumfahrtindustrie wächst – Ingenieure, Informatiker,</a:t>
            </a:r>
          </a:p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Materialwissenschaftler werden gebraucht.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12 · PRAXIS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12   ·   PRAXIS-TIPPS · SELBST AKTIV WERDEN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Du willst tiefer rein?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697480" cy="365760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45720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BEOBACHTEN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 Light"/>
              </a:rPr>
              <a:t>Starlink-„Schlangen“ am Nachthimmel selbst sehen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App: „Heavens-Above“ oder „Starlink Tracker“ – zeigt Überflüge 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560320"/>
            <a:ext cx="2697480" cy="365760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560320"/>
            <a:ext cx="45720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ZUSCHAUEN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 Light"/>
              </a:rPr>
              <a:t>Raketenstarts live mitverfolgen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SpaceX-Stream auf X / YouTube – kostenlos, mit Telemetrie &amp; Triebwerks-Daten.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60320"/>
            <a:ext cx="2697480" cy="365760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45720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LERNEN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 Light"/>
              </a:rPr>
              <a:t>Selbst eine kleine Rakete bauen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89120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Modellraketen (z. B. Estes), Programmieren mit „Kerbal Space Program“.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560320"/>
            <a:ext cx="2697480" cy="3657600"/>
          </a:xfrm>
          <a:prstGeom prst="rect">
            <a:avLst/>
          </a:prstGeom>
          <a:solidFill>
            <a:srgbClr val="0E1422"/>
          </a:solidFill>
          <a:ln w="12700">
            <a:solidFill>
              <a:srgbClr val="2B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560320"/>
            <a:ext cx="45720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E61E2B"/>
                </a:solidFill>
                <a:latin typeface="Calibri"/>
              </a:rPr>
              <a:t>MITREDEN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Calibri Light"/>
              </a:rPr>
              <a:t>Quellenkritik üben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389120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3B2"/>
                </a:solidFill>
                <a:latin typeface="Calibri Light"/>
              </a:rPr>
              <a:t>Vergleicht Aussagen von SpaceX mit NASA, ESA &amp; unabhängigen Medien.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12 · PRAXIS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13   ·   KRITIK &amp; RISIKEN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F7FA"/>
                </a:solidFill>
                <a:latin typeface="Calibri Light"/>
              </a:rPr>
              <a:t>Nicht alles ist Glanz.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703320" cy="1645920"/>
          </a:xfrm>
          <a:prstGeom prst="rect">
            <a:avLst/>
          </a:prstGeom>
          <a:solidFill>
            <a:srgbClr val="181012"/>
          </a:solidFill>
          <a:ln w="635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WELTRAUMMÜLL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Über 7.000 Starlink-Satelliten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– Risiko für Kollisionen.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651760"/>
            <a:ext cx="3703320" cy="1645920"/>
          </a:xfrm>
          <a:prstGeom prst="rect">
            <a:avLst/>
          </a:prstGeom>
          <a:solidFill>
            <a:srgbClr val="181012"/>
          </a:solidFill>
          <a:ln w="635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834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LICHTVERSCHMUTZUNG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91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Astronomen klagen über helle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Spuren auf Teleskop-Bildern.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651760"/>
            <a:ext cx="3703320" cy="1645920"/>
          </a:xfrm>
          <a:prstGeom prst="rect">
            <a:avLst/>
          </a:prstGeom>
          <a:solidFill>
            <a:srgbClr val="181012"/>
          </a:solidFill>
          <a:ln w="635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UMWELT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Starship-Tests in Texas: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Lärm, Schutzgebiete, CO₂-Ausstoß.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3703320" cy="1645920"/>
          </a:xfrm>
          <a:prstGeom prst="rect">
            <a:avLst/>
          </a:prstGeom>
          <a:solidFill>
            <a:srgbClr val="181012"/>
          </a:solidFill>
          <a:ln w="635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MACHTKONZENTRATION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Eine Firma dominiert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fast den gesamten Raketenmarkt.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4480560"/>
            <a:ext cx="3703320" cy="1645920"/>
          </a:xfrm>
          <a:prstGeom prst="rect">
            <a:avLst/>
          </a:prstGeom>
          <a:solidFill>
            <a:srgbClr val="181012"/>
          </a:solidFill>
          <a:ln w="635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6634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PERSON ELON MUSK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120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Politische Aussagen polarisieren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– vom CEO unabhängig?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480560"/>
            <a:ext cx="3703320" cy="1645920"/>
          </a:xfrm>
          <a:prstGeom prst="rect">
            <a:avLst/>
          </a:prstGeom>
          <a:solidFill>
            <a:srgbClr val="181012"/>
          </a:solidFill>
          <a:ln w="6350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6634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61E2B"/>
                </a:solidFill>
                <a:latin typeface="Calibri"/>
              </a:rPr>
              <a:t>VERSPRECHEN VS. REALITÄT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1206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Mars „bis 2024“ ist mehrfach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verschoben worden.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13 · KRITIK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54994" y="203521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01654" y="1545631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9034" y="289947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17531" y="41658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05394" y="4630497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14387" y="5940098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7666" y="494555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71908" y="1594949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78162" y="4453029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6294" y="585848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17232" y="216770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42416" y="6552422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86112" y="2344833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07942" y="1552130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4824" y="446120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0890" y="424698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69298" y="3332545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5744" y="472506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74303" y="21141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93088" y="4708551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72450" y="6354759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9614" y="73911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67650" y="826874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4067" y="165210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1943" y="5668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45444" y="143777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12520" y="292878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92958" y="528098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0341" y="526960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56160" y="619953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37582" y="84723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91185" y="102334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27182" y="362552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872137" y="439525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8161" y="5736584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88847" y="610064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980379" y="296766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43283" y="100228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88750" y="2938097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13880" y="815797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DISKUTIERT MIT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11430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1737360"/>
            <a:ext cx="11247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5F7FA"/>
                </a:solidFill>
                <a:latin typeface="Calibri Light"/>
              </a:rPr>
              <a:t>Sollte eine einzige</a:t>
            </a:r>
          </a:p>
          <a:p>
            <a:pPr algn="l"/>
            <a:r>
              <a:rPr sz="5400" b="1" i="0">
                <a:solidFill>
                  <a:srgbClr val="F5F7FA"/>
                </a:solidFill>
                <a:latin typeface="Calibri Light"/>
              </a:rPr>
              <a:t>private Firma die</a:t>
            </a:r>
          </a:p>
          <a:p>
            <a:pPr algn="l"/>
            <a:r>
              <a:rPr sz="5400" b="1" i="0">
                <a:solidFill>
                  <a:srgbClr val="F5F7FA"/>
                </a:solidFill>
                <a:latin typeface="Calibri Light"/>
              </a:rPr>
              <a:t>Raumfahrt kontrollieren?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37760"/>
            <a:ext cx="5486400" cy="1554480"/>
          </a:xfrm>
          <a:prstGeom prst="rect">
            <a:avLst/>
          </a:prstGeom>
          <a:solidFill>
            <a:srgbClr val="0C1810"/>
          </a:solidFill>
          <a:ln w="952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4A9EFF"/>
                </a:solidFill>
                <a:latin typeface="Calibri"/>
              </a:rPr>
              <a:t>ARGUMENT: JA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4406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Schneller, günstiger, innovativer.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Staat kann beauftragen, ohne selbst bauen zu müssen.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937760"/>
            <a:ext cx="5486400" cy="1554480"/>
          </a:xfrm>
          <a:prstGeom prst="rect">
            <a:avLst/>
          </a:prstGeom>
          <a:solidFill>
            <a:srgbClr val="180C10"/>
          </a:solidFill>
          <a:ln w="9525">
            <a:solidFill>
              <a:srgbClr val="E6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61E2B"/>
                </a:solidFill>
                <a:latin typeface="Calibri"/>
              </a:rPr>
              <a:t>ARGUMENT: NEIN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4406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Abhängigkeit vom Willen einer Person.</a:t>
            </a:r>
          </a:p>
          <a:p>
            <a:pPr algn="l"/>
            <a:r>
              <a:rPr sz="1300" b="0" i="0">
                <a:solidFill>
                  <a:srgbClr val="F5F7FA"/>
                </a:solidFill>
                <a:latin typeface="Calibri Light"/>
              </a:rPr>
              <a:t>Kritische Infrastruktur ohne demokratische Kontrolle.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INTERAKTIV · DISKUSSION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14   ·   FAZIT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 Light"/>
              </a:rPr>
              <a:t>Drei Sätze zum Mitnehmen.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61E2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5F7FA"/>
                </a:solidFill>
                <a:latin typeface="Calibri Light"/>
              </a:rPr>
              <a:t>SpaceX hat Raumfahrt billiger gemacht –</a:t>
            </a:r>
          </a:p>
          <a:p>
            <a:pPr algn="l"/>
            <a:r>
              <a:rPr sz="2200" b="0" i="0">
                <a:solidFill>
                  <a:srgbClr val="F5F7FA"/>
                </a:solidFill>
                <a:latin typeface="Calibri Light"/>
              </a:rPr>
              <a:t>durch wiederverwendbare Raketen.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61E2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7764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5F7FA"/>
                </a:solidFill>
                <a:latin typeface="Calibri Light"/>
              </a:rPr>
              <a:t>Die Firma ist heute der größte Akteur</a:t>
            </a:r>
          </a:p>
          <a:p>
            <a:pPr algn="l"/>
            <a:r>
              <a:rPr sz="2200" b="0" i="0">
                <a:solidFill>
                  <a:srgbClr val="F5F7FA"/>
                </a:solidFill>
                <a:latin typeface="Calibri Light"/>
              </a:rPr>
              <a:t>im Orbit – mit allen Chancen und Risiken.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61E2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5F7FA"/>
                </a:solidFill>
                <a:latin typeface="Calibri Light"/>
              </a:rPr>
              <a:t>Mond, Mars, Internet:</a:t>
            </a:r>
          </a:p>
          <a:p>
            <a:pPr algn="l"/>
            <a:r>
              <a:rPr sz="2200" b="0" i="0">
                <a:solidFill>
                  <a:srgbClr val="F5F7FA"/>
                </a:solidFill>
                <a:latin typeface="Calibri Light"/>
              </a:rPr>
              <a:t>das nächste Jahrzehnt entscheidet, was real wird.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FAZIT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" cy="32004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9AA3B2"/>
                </a:solidFill>
                <a:latin typeface="Calibri"/>
              </a:rPr>
              <a:t>15   ·   QUELLEN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 Light"/>
              </a:rPr>
              <a:t>Quellen &amp; weiterführende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SpaceX – Offizielle Seite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https://www.spacex.com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NASA – Commercial Crew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https://www.nasa.gov/commercial-crew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NASA – Artemis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216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https://www.nasa.gov/humans-in-space/artemis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ESA – European Space 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245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https://www.esa.int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DLR – Deutsches Zentrum für Luft- und Raumfahrt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2744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https://www.dlr.de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BryceTech – Start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303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https://brycetech.com/reports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Spiegel Online – Wissenschaft (Raumfahrt)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157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https://www.spiegel.de/wissenschaft/weltall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71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Tagesschau – Raumfahrt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1868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https://www.tagesschau.de/wissen/raumfahrt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Reuters –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216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https://www.reuters.com/business/aerospace-defense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776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BBC – Science: 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245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https://www.bbc.com/news/science_and_environment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 Light"/>
              </a:rPr>
              <a:t>Wikipedia – SpaceX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72744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9EFF"/>
                </a:solidFill>
                <a:latin typeface="Calibri Light"/>
              </a:rPr>
              <a:t>https://de.wikipedia.org/wiki/SpaceX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AA3B2"/>
                </a:solidFill>
                <a:latin typeface="Calibri"/>
              </a:rPr>
              <a:t>Abgerufen: Mai 2026. Zahlen können sich jederzeit ändern.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B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9AA3B2"/>
                </a:solidFill>
                <a:latin typeface="Calibri"/>
              </a:rPr>
              <a:t>QUELLEN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51052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9AA3B2"/>
                </a:solidFill>
                <a:latin typeface="Calibri"/>
              </a:rPr>
              <a:t>JULIUS MÜLLER  ·  BEN HAMMEN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300">
                <a:solidFill>
                  <a:srgbClr val="9AA3B2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77627" y="319398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99805" y="1931583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2545" y="2106807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05557" y="5740396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7202" y="5233817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73933" y="6058467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35493" y="664892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8249" y="1783341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2490" y="1501568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930" y="6011947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73076" y="393458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5572" y="225988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3772" y="170929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55874" y="3876264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58757" y="388141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66605" y="1810457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10741" y="499472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7989" y="1476587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0973" y="143602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30041" y="68082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43157" y="119882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092" y="3196575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81229" y="340015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44694" y="1773646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51483" y="3389565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660146" y="3994180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052140" y="5030380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01127" y="342506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91703" y="120512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80397" y="343827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11443" y="2676859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21788" y="98325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80399" y="607246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7040" y="4913145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29283" y="3162289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00989" y="3237499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5205" y="77732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57827" y="605372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862279" y="2612369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61623" y="6039518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540739" y="604588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937763" y="5656411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34977" y="2486188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45330" y="3532519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41467" y="2458112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4382" y="4473175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29670" y="2440098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50940" y="133731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79019" y="569041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86740" y="5996392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72398" y="282567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2331" y="5595715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56011" y="162132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879957" y="6622743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025425" y="3495639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79506" y="3424614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709219" y="30352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921258" y="1698675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209909" y="5639665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575102" y="6583979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27616" y="6279518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52147" y="4700751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398581" y="6441288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823510" y="1680109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764149" y="6764377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739358" y="26810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028474" y="3097296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927189" y="4932596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254845" y="6347352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684823" y="6620695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31315" y="276032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491840" y="5827059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015611" y="4713415"/>
            <a:ext cx="28575" cy="2857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037099" y="209855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770570" y="4803850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81380" y="4019598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991883" y="557852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9834" y="2009684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58586" y="96357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210378" y="2816482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6111" y="4778301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19651" y="531424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353364" y="3472370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284258" y="493370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06356" y="400609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58019" y="465790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366557" y="482400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52051" y="6755801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31271" y="144147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019914" y="306325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325914" y="6506112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774576" y="2966902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366722" y="6236292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2159252" y="1054447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149004" y="725686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848352" y="3181338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2028292" y="1942436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252338" y="1351478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744554" y="6789975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153952" y="2579206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864550" y="122948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744978" y="612948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322273" y="5722053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508456" y="3723275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345177" y="6855722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47860" y="3129923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886756" y="382525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41923" y="252193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9407" y="2396157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67109" y="103687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213005" y="338016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175041" y="5734065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139917" y="274269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541160" y="511933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529118" y="5818601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844829" y="6198754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94502" y="6002994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93265" y="3408122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056147" y="5434190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515724" y="78816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488549" y="24087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5664" y="5278619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271460" y="1537096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497231" y="27008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438571" y="332042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778914" y="4934413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292485" y="1108036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526626" y="3100219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902730" y="6154172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496347" y="6001787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257345" y="1691781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976183" y="6192068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517576" y="215191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654123" y="5639259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296018" y="1969141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804654" y="5763792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634218" y="4398758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53742" y="210132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606762" y="4158200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533711" y="248304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42761" y="264401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1123979" y="245663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271965" y="2138393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897200" y="2477427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115964" y="956940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530333" y="1193635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906289" y="2184209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35415" y="22831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2367874" y="5102510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02987" y="3010142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109700" y="4515712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61322" y="24367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726541" y="2881993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82099" y="5410738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911995" y="5515405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607740" y="6098149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109335" y="4683770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814949" y="2204722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785997" y="6781347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911534" y="204241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686057" y="2240257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719137" y="227315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483521" y="203930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159463" y="3730447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098600" y="6238646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432779" y="1022989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736182" y="4145530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144058" y="6660714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945681" y="5074879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775714" y="2403630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42885" y="4957915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8222239" y="2839457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685744" y="166408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402814" y="5320406"/>
            <a:ext cx="9525" cy="952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27476" y="355145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836756" y="4854774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036141" y="6705369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417144" y="5601632"/>
            <a:ext cx="28575" cy="2857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13407" y="3604712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262174" y="6492109"/>
            <a:ext cx="28575" cy="2857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973552" y="5919534"/>
            <a:ext cx="19050" cy="190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196977" y="154963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0600017" y="807721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831305" y="2549205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2655945" y="6316038"/>
            <a:ext cx="9525" cy="9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074346" y="294660"/>
            <a:ext cx="28575" cy="2857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171696" y="2103968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154716" y="2439050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9149" y="6456017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514125" y="2116300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645452" y="1546587"/>
            <a:ext cx="19050" cy="1905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500088" y="1596560"/>
            <a:ext cx="9525" cy="9525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160091" y="6727448"/>
            <a:ext cx="19050" cy="1905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295386" y="2978468"/>
            <a:ext cx="19050" cy="1905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84003" y="1902493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425698" y="4805932"/>
            <a:ext cx="9525" cy="9525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2162108" y="6588459"/>
            <a:ext cx="28575" cy="28575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742867" y="6655785"/>
            <a:ext cx="9525" cy="95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081528" y="741747"/>
            <a:ext cx="19050" cy="1905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789421" y="701783"/>
            <a:ext cx="9525" cy="9525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57200" y="237744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0" b="1" i="0">
                <a:solidFill>
                  <a:srgbClr val="F5F7FA"/>
                </a:solidFill>
                <a:latin typeface="Calibri"/>
              </a:rPr>
              <a:t>Fragen?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32704" y="4572000"/>
            <a:ext cx="914400" cy="45720"/>
          </a:xfrm>
          <a:prstGeom prst="rect">
            <a:avLst/>
          </a:prstGeom>
          <a:solidFill>
            <a:srgbClr val="E6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9AA3B2"/>
                </a:solidFill>
                <a:latin typeface="Calibri Light"/>
              </a:rPr>
              <a:t>Wir freuen uns auf eure Diskussion.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400">
                <a:solidFill>
                  <a:srgbClr val="F5F7FA"/>
                </a:solidFill>
                <a:latin typeface="Calibri"/>
              </a:rPr>
              <a:t>JULIUS MÜLLER   ·   BEN HAMMEN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