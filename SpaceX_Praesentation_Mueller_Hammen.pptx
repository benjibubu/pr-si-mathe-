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54257" y="477482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78347" y="4156010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31916" y="3184443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184876" y="237795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91118" y="6394468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72357" y="2234142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17908" y="857543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4502" y="213455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4433" y="3197772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81940" y="6088892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19368" y="6406388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75444" y="1955254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355634" y="1835268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37" y="3491170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677726" y="1559494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72605" y="1014098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104499" y="5965908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18081" y="5622930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67403" y="4928983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99378" y="4940909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72500" y="6238864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152545" y="1451291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795066" y="6508197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86473" y="72534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29981" y="905393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97725" y="3108169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96185" y="393694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800793" y="5157406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3506" y="542873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26164" y="190368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053278" y="4599796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19658" y="2884220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02952" y="2258879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6398" y="6118652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98322" y="678755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18022" y="1723735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71549" y="3059627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352749" y="4233902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85942" y="3476444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034175" y="4530767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555564" y="3843213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52133" y="5329879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805626" y="1516526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283123" y="272286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396437" y="140011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717697" y="2093454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482439" y="154862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66274" y="140484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847974" y="1410502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875038" y="5969248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788100" y="2701146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15801" y="198261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760330" y="3530921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824718" y="2126161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507964" y="5080549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781148" y="149858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92672" y="6030028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821320" y="4247230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138585" y="1850524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67101" y="3781962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880132" y="25753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661092" y="6739286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585548" y="3576058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009776" y="1054308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140314" y="593300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97593" y="6239799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478132" y="2116933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407275" y="318066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567720" y="3865910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451581" y="4268742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2279" y="2910267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619765" y="5655205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256770" y="4130137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544129" y="2483637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88571" y="2729197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720298" y="151774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498576" y="6804327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689080" y="3600729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315478" y="808704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768842" y="5763897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934210" y="1968306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77807" y="71034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794288" y="451482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573952" y="5034916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75827" y="2842493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4885781" y="197291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200582" y="1135364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749444" y="2690444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227981" y="3189602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719310" y="962084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42452" y="643000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753299" y="4747671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121868" y="2479274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917905" y="3840046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67586" y="2480829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247640" y="122038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931099" y="662597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020380" y="6589353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718241" y="969372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423439" y="2025180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725270" y="3649907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932897" y="4615488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002901" y="263787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0939587" y="2662681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76263" y="6600659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0008794" y="2686462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255980" y="3343323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324241" y="5045302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195358" y="1805171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545909" y="3933586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346741" y="1536983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155992" y="1671144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365141" y="2355409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518144" y="5469460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685526" y="1907789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88742" y="2745099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714119" y="254014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693620" y="4565293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998592" y="772120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41819" y="6780204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213454" y="2248682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60468" y="180473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879175" y="6297569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865735" y="1293352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504496" y="646820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906520" y="1506312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365085" y="2563750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629499" y="5049041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468530" y="1188503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32843" y="6540962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277616" y="4638493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446613" y="1494471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017624" y="1324535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203468" y="2074476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443333" y="3747149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197991" y="4541404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605274" y="91155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877587" y="2164001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45444" y="3495397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45583" y="5802428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57200" y="2560320"/>
            <a:ext cx="73152" cy="1463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31520" y="2606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E61E2B"/>
                </a:solidFill>
                <a:latin typeface="Calibri"/>
              </a:rPr>
              <a:t>REFERAT  ·  RAUMFAHRT  ·  ZUKUNFT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31520" y="30175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0" b="1" i="0">
                <a:solidFill>
                  <a:srgbClr val="F5F7FA"/>
                </a:solidFill>
                <a:latin typeface="Calibri"/>
              </a:rPr>
              <a:t>SpaceX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9AA3B2"/>
                </a:solidFill>
                <a:latin typeface="Calibri Light"/>
              </a:rPr>
              <a:t>Eine Firma. Ein Ziel: Mars.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731520" y="5852160"/>
            <a:ext cx="3383280" cy="0"/>
          </a:xfrm>
          <a:prstGeom prst="line">
            <a:avLst/>
          </a:prstGeom>
          <a:ln w="19050">
            <a:solidFill>
              <a:srgbClr val="E61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F5F7FA"/>
                </a:solidFill>
                <a:latin typeface="Calibri"/>
              </a:rPr>
              <a:t>JULIUS MÜLLER   ·   BEN HAMMEN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"/>
              </a:rPr>
              <a:t>Mai 2026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503920" y="457200"/>
            <a:ext cx="3200400" cy="1828800"/>
          </a:xfrm>
          <a:prstGeom prst="rect">
            <a:avLst/>
          </a:prstGeom>
          <a:solidFill>
            <a:srgbClr val="0B101C"/>
          </a:solidFill>
          <a:ln w="19050">
            <a:solidFill>
              <a:srgbClr val="E61E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>
            <a:off x="8503920" y="457200"/>
            <a:ext cx="3200400" cy="182880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8503920" y="457200"/>
            <a:ext cx="3200400" cy="182880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ounded Rectangle 152"/>
          <p:cNvSpPr/>
          <p:nvPr/>
        </p:nvSpPr>
        <p:spPr>
          <a:xfrm>
            <a:off x="9784080" y="548640"/>
            <a:ext cx="640080" cy="457200"/>
          </a:xfrm>
          <a:prstGeom prst="roundRect">
            <a:avLst/>
          </a:prstGeom>
          <a:noFill/>
          <a:ln w="190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985248" y="667512"/>
            <a:ext cx="237744" cy="219456"/>
          </a:xfrm>
          <a:prstGeom prst="ellipse">
            <a:avLst/>
          </a:prstGeom>
          <a:noFill/>
          <a:ln w="1524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03920" y="114300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 spc="400">
                <a:solidFill>
                  <a:srgbClr val="F5F7FA"/>
                </a:solidFill>
                <a:latin typeface="Calibri"/>
              </a:rPr>
              <a:t>BILD 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778240" y="150876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SpaceX-Logo (transparent, weiß)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692640" y="19659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06878"/>
                </a:solidFill>
                <a:latin typeface="Calibri"/>
              </a:rPr>
              <a:t>ca. 16:9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503920" y="457200"/>
            <a:ext cx="128016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503920" y="4572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300">
                <a:solidFill>
                  <a:srgbClr val="F5F7FA"/>
                </a:solidFill>
                <a:latin typeface="Calibri"/>
              </a:rPr>
              <a:t>BILD 01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8774" y="76826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36752" y="6173763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220867" y="5083028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9524" y="4875492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5437" y="5355885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40734" y="3121067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23291" y="2250166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07148" y="3899812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07012" y="4410333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76889" y="1980746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64869" y="2727496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59176" y="428006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315891" y="4696700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57024" y="6160607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57035" y="2967780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04229" y="6325044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41119" y="5493791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1069" y="2341279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46846" y="6679145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8411" y="3867250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78332" y="4677343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63936" y="5527130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736864" y="1393093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9140" y="2596803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59891" y="4715980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28920" y="5165773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231879" y="6131484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88116" y="3075248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264588" y="6579016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41294" y="6837214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WILLKOMMEN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11430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1645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5F7FA"/>
                </a:solidFill>
                <a:latin typeface="Calibri Light"/>
              </a:rPr>
              <a:t>Heute fliegen wir</a:t>
            </a:r>
          </a:p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5F7FA"/>
                </a:solidFill>
                <a:latin typeface="Calibri Light"/>
              </a:rPr>
              <a:t>mit SpaceX.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12080"/>
            <a:ext cx="36576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34924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 spc="200">
                <a:solidFill>
                  <a:srgbClr val="F5F7FA"/>
                </a:solidFill>
                <a:latin typeface="Calibri Light"/>
              </a:rPr>
              <a:t>RAKETEN.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5212080"/>
            <a:ext cx="36576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0" y="534924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 spc="200">
                <a:solidFill>
                  <a:srgbClr val="F5F7FA"/>
                </a:solidFill>
                <a:latin typeface="Calibri Light"/>
              </a:rPr>
              <a:t>VISIONEN.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5212080"/>
            <a:ext cx="36576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534924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 spc="200">
                <a:solidFill>
                  <a:srgbClr val="F5F7FA"/>
                </a:solidFill>
                <a:latin typeface="Calibri Light"/>
              </a:rPr>
              <a:t>DISKUSSION.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BEGRÜSSUNG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02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THEMENÜBERSICHT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5F7FA"/>
                </a:solidFill>
                <a:latin typeface="Calibri Light"/>
              </a:rPr>
              <a:t>Unsere Reise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Was ist SpaceX?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Geschichte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57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Elon Musk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Vision &amp; Mission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4879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7548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Die Raketen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Wiederverwendbarkeit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0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560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Dragon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08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108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Starlink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657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SpaceX in Zahlen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062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Mond &amp; Mars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54879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7548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Was bringt's uns?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3035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E61E2B"/>
                </a:solidFill>
                <a:latin typeface="Calibri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Kritik &amp; Diskussion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9436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AA3B2"/>
                </a:solidFill>
                <a:latin typeface="Calibri"/>
              </a:rPr>
              <a:t>≈ 30 Minuten   ·   Fragen am Ende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AGENDA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03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01   ·   WAS IST SPACEX?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Stand: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5F7FA"/>
                </a:solidFill>
                <a:latin typeface="Calibri Light"/>
              </a:rPr>
              <a:t>Vier Worte.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926080"/>
            <a:ext cx="2697480" cy="23774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2697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F5F7FA"/>
                </a:solidFill>
                <a:latin typeface="Calibri Light"/>
              </a:rPr>
              <a:t>PRIVAT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926080"/>
            <a:ext cx="2697480" cy="23774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08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566160"/>
            <a:ext cx="2697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F5F7FA"/>
                </a:solidFill>
                <a:latin typeface="Calibri Light"/>
              </a:rPr>
              <a:t>WIEDER-</a:t>
            </a:r>
          </a:p>
          <a:p>
            <a:pPr algn="ctr"/>
            <a:r>
              <a:rPr sz="3000" b="1" i="0">
                <a:solidFill>
                  <a:srgbClr val="F5F7FA"/>
                </a:solidFill>
                <a:latin typeface="Calibri Light"/>
              </a:rPr>
              <a:t>VERWENDBAR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926080"/>
            <a:ext cx="2697480" cy="23774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108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566160"/>
            <a:ext cx="2697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F5F7FA"/>
                </a:solidFill>
                <a:latin typeface="Calibri Light"/>
              </a:rPr>
              <a:t>SCHNELL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2926080"/>
            <a:ext cx="2697480" cy="23774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3108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566160"/>
            <a:ext cx="2697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F5F7FA"/>
                </a:solidFill>
                <a:latin typeface="Calibri Light"/>
              </a:rPr>
              <a:t>AMBITIONIERT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4A9EFF"/>
                </a:solidFill>
                <a:latin typeface="Calibri Light"/>
              </a:rPr>
              <a:t>Space Exploration Technologies Corp.   ·   Sitz: Hawthorne, Kalifornien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01 · WAS IST SPACEX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04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02   ·   GESCHICHTE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2002 –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5F7FA"/>
                </a:solidFill>
                <a:latin typeface="Calibri Light"/>
              </a:rPr>
              <a:t>23 Jahre. 6 Sprünge.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574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40080" y="4572000"/>
            <a:ext cx="10881360" cy="0"/>
          </a:xfrm>
          <a:prstGeom prst="line">
            <a:avLst/>
          </a:prstGeom>
          <a:ln w="25400">
            <a:solidFill>
              <a:srgbClr val="E61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02920" y="4434840"/>
            <a:ext cx="274320" cy="274320"/>
          </a:xfrm>
          <a:prstGeom prst="ellipse">
            <a:avLst/>
          </a:prstGeom>
          <a:solidFill>
            <a:srgbClr val="E61E2B"/>
          </a:solidFill>
          <a:ln w="25400">
            <a:solidFill>
              <a:srgbClr val="0508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-274320" y="3291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5F7FA"/>
                </a:solidFill>
                <a:latin typeface="Calibri"/>
              </a:rPr>
              <a:t>2002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457200" y="4846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Gründung</a:t>
            </a:r>
          </a:p>
        </p:txBody>
      </p:sp>
      <p:sp>
        <p:nvSpPr>
          <p:cNvPr id="13" name="Oval 12"/>
          <p:cNvSpPr/>
          <p:nvPr/>
        </p:nvSpPr>
        <p:spPr>
          <a:xfrm>
            <a:off x="2679192" y="4434840"/>
            <a:ext cx="274320" cy="274320"/>
          </a:xfrm>
          <a:prstGeom prst="ellipse">
            <a:avLst/>
          </a:prstGeom>
          <a:solidFill>
            <a:srgbClr val="E61E2B"/>
          </a:solidFill>
          <a:ln w="25400">
            <a:solidFill>
              <a:srgbClr val="0508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1952" y="3291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5F7FA"/>
                </a:solidFill>
                <a:latin typeface="Calibri"/>
              </a:rPr>
              <a:t>2008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4846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Falcon 1</a:t>
            </a:r>
          </a:p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im Orbit</a:t>
            </a:r>
          </a:p>
        </p:txBody>
      </p:sp>
      <p:sp>
        <p:nvSpPr>
          <p:cNvPr id="16" name="Oval 15"/>
          <p:cNvSpPr/>
          <p:nvPr/>
        </p:nvSpPr>
        <p:spPr>
          <a:xfrm>
            <a:off x="4855464" y="4434840"/>
            <a:ext cx="274320" cy="274320"/>
          </a:xfrm>
          <a:prstGeom prst="ellipse">
            <a:avLst/>
          </a:prstGeom>
          <a:solidFill>
            <a:srgbClr val="E61E2B"/>
          </a:solidFill>
          <a:ln w="25400">
            <a:solidFill>
              <a:srgbClr val="0508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8224" y="3291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5F7FA"/>
                </a:solidFill>
                <a:latin typeface="Calibri"/>
              </a:rPr>
              <a:t>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4846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Dragon</a:t>
            </a:r>
          </a:p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an ISS</a:t>
            </a:r>
          </a:p>
        </p:txBody>
      </p:sp>
      <p:sp>
        <p:nvSpPr>
          <p:cNvPr id="19" name="Oval 18"/>
          <p:cNvSpPr/>
          <p:nvPr/>
        </p:nvSpPr>
        <p:spPr>
          <a:xfrm>
            <a:off x="7031736" y="4434840"/>
            <a:ext cx="274320" cy="274320"/>
          </a:xfrm>
          <a:prstGeom prst="ellipse">
            <a:avLst/>
          </a:prstGeom>
          <a:solidFill>
            <a:srgbClr val="E61E2B"/>
          </a:solidFill>
          <a:ln w="25400">
            <a:solidFill>
              <a:srgbClr val="0508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6" y="3291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5F7FA"/>
                </a:solidFill>
                <a:latin typeface="Calibri"/>
              </a:rPr>
              <a:t>2015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1616" y="4846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1. Falcon-</a:t>
            </a:r>
          </a:p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Landung</a:t>
            </a:r>
          </a:p>
        </p:txBody>
      </p:sp>
      <p:sp>
        <p:nvSpPr>
          <p:cNvPr id="22" name="Oval 21"/>
          <p:cNvSpPr/>
          <p:nvPr/>
        </p:nvSpPr>
        <p:spPr>
          <a:xfrm>
            <a:off x="9208008" y="4434840"/>
            <a:ext cx="274320" cy="274320"/>
          </a:xfrm>
          <a:prstGeom prst="ellipse">
            <a:avLst/>
          </a:prstGeom>
          <a:solidFill>
            <a:srgbClr val="E61E2B"/>
          </a:solidFill>
          <a:ln w="25400">
            <a:solidFill>
              <a:srgbClr val="0508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8" y="3291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5F7FA"/>
                </a:solidFill>
                <a:latin typeface="Calibri"/>
              </a:rPr>
              <a:t>2020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46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Crew zur</a:t>
            </a:r>
          </a:p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ISS</a:t>
            </a:r>
          </a:p>
        </p:txBody>
      </p:sp>
      <p:sp>
        <p:nvSpPr>
          <p:cNvPr id="25" name="Oval 24"/>
          <p:cNvSpPr/>
          <p:nvPr/>
        </p:nvSpPr>
        <p:spPr>
          <a:xfrm>
            <a:off x="11384280" y="4434840"/>
            <a:ext cx="274320" cy="274320"/>
          </a:xfrm>
          <a:prstGeom prst="ellipse">
            <a:avLst/>
          </a:prstGeom>
          <a:solidFill>
            <a:srgbClr val="E61E2B"/>
          </a:solidFill>
          <a:ln w="25400">
            <a:solidFill>
              <a:srgbClr val="0508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3291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5F7FA"/>
                </a:solidFill>
                <a:latin typeface="Calibri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4846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Starship-</a:t>
            </a:r>
          </a:p>
          <a:p>
            <a:pPr algn="ctr"/>
            <a:r>
              <a:rPr sz="1200" b="0" i="0">
                <a:solidFill>
                  <a:srgbClr val="9AA3B2"/>
                </a:solidFill>
                <a:latin typeface="Calibri Light"/>
              </a:rPr>
              <a:t>Fangarm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560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4A9EFF"/>
                </a:solidFill>
                <a:latin typeface="Calibri Light"/>
              </a:rPr>
              <a:t>Startkapital: 100 Mio. $ aus Musks PayPal-Verkauf (2002).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02 · GESCHICHTE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05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03   ·   ELON MUSK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geb. 1971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5F7FA"/>
                </a:solidFill>
                <a:latin typeface="Calibri Light"/>
              </a:rPr>
              <a:t>Der Kopf dahinter.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574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5029200" cy="3474720"/>
          </a:xfrm>
          <a:prstGeom prst="rect">
            <a:avLst/>
          </a:prstGeom>
          <a:solidFill>
            <a:srgbClr val="0B101C"/>
          </a:solidFill>
          <a:ln w="19050">
            <a:solidFill>
              <a:srgbClr val="E61E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57200" y="2743200"/>
            <a:ext cx="5029200" cy="347472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57200" y="2743200"/>
            <a:ext cx="5029200" cy="347472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51760" y="3657600"/>
            <a:ext cx="640080" cy="457200"/>
          </a:xfrm>
          <a:prstGeom prst="roundRect">
            <a:avLst/>
          </a:prstGeom>
          <a:noFill/>
          <a:ln w="190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52928" y="3776472"/>
            <a:ext cx="237744" cy="219456"/>
          </a:xfrm>
          <a:prstGeom prst="ellipse">
            <a:avLst/>
          </a:prstGeom>
          <a:noFill/>
          <a:ln w="1524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519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 spc="400">
                <a:solidFill>
                  <a:srgbClr val="F5F7FA"/>
                </a:solidFill>
                <a:latin typeface="Calibri"/>
              </a:rPr>
              <a:t>BILD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Portrait Elon Musk</a:t>
            </a:r>
          </a:p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(z. B. Wikipedia – CC-BY)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897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06878"/>
                </a:solidFill>
                <a:latin typeface="Calibri"/>
              </a:rPr>
              <a:t>Hochformat / quadratisch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43200"/>
            <a:ext cx="128016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300">
                <a:solidFill>
                  <a:srgbClr val="F5F7FA"/>
                </a:solidFill>
                <a:latin typeface="Calibri"/>
              </a:rPr>
              <a:t>BILD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743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FAKTEN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0" y="340156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29184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Calibri Light"/>
              </a:rPr>
              <a:t>Geboren 1971 in Pretoria (Südafrika)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390448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37947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Calibri Light"/>
              </a:rPr>
              <a:t>Studium: Physik &amp; BWL (USA)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440740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2976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Calibri Light"/>
              </a:rPr>
              <a:t>PayPal-Mitgründer → Verkauf 2002</a:t>
            </a:r>
          </a:p>
        </p:txBody>
      </p:sp>
      <p:sp>
        <p:nvSpPr>
          <p:cNvPr id="26" name="Oval 25"/>
          <p:cNvSpPr/>
          <p:nvPr/>
        </p:nvSpPr>
        <p:spPr>
          <a:xfrm>
            <a:off x="5943600" y="491032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48006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Calibri Light"/>
              </a:rPr>
              <a:t>CEO: SpaceX · Tesla · xAI · X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541324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3035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Calibri Light"/>
              </a:rPr>
              <a:t>Vermögen: &gt; 300 Mrd. $ (Forbes 2025)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03 · ELON MUSK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06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33012" y="1265414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10111" y="607639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35241" y="4888780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02037" y="314536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15764" y="585989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45038" y="3561125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77052" y="1872664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781064" y="518936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5194" y="415985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39287" y="1117151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20198" y="4535601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75466" y="4699778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28987" y="4878815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51952" y="312389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947236" y="526712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85257" y="1727706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20785" y="3586904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24097" y="3801586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67906" y="6663738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95259" y="686649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11335" y="4153337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30188" y="2415397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980815" y="4294403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38744" y="1274938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7788" y="5605400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13779" y="6619401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65120" y="2937509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29027" y="6684814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570280" y="2264414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142625" y="545259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769083" y="2597174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429263" y="3738305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72506" y="5609065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45961" y="2981849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64541" y="4141397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2307" y="1084984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675615" y="3279523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791163" y="3768057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661367" y="1148619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671130" y="5925685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454192" y="3191372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92252" y="1478221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048076" y="1957364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883852" y="152960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8679" y="1222022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95046" y="5115477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05398" y="5792280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988513" y="5672377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61210" y="6542858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83025" y="3339250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737064" y="4039306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44345" y="159894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92492" y="1361497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078531" y="441036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509051" y="1268902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100362" y="5148401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488867" y="5151184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643626" y="2116091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09648" y="3977470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188423" y="3909002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04   ·   MISSION &amp; VISION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 i="0">
                <a:solidFill>
                  <a:srgbClr val="F5F7FA"/>
                </a:solidFill>
                <a:latin typeface="Calibri Light"/>
              </a:rPr>
              <a:t>Warum?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237744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3017520"/>
            <a:ext cx="11247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600" b="0" i="1">
                <a:solidFill>
                  <a:srgbClr val="F5F7FA"/>
                </a:solidFill>
                <a:latin typeface="Calibri Light"/>
              </a:rPr>
              <a:t>„Die Menschheit</a:t>
            </a:r>
          </a:p>
          <a:p>
            <a:pPr algn="ctr">
              <a:lnSpc>
                <a:spcPct val="110000"/>
              </a:lnSpc>
            </a:pPr>
            <a:r>
              <a:rPr sz="4600" b="0" i="1">
                <a:solidFill>
                  <a:srgbClr val="F5F7FA"/>
                </a:solidFill>
                <a:latin typeface="Calibri Light"/>
              </a:rPr>
              <a:t>multiplanetar machen.“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9AA3B2"/>
                </a:solidFill>
                <a:latin typeface="Calibri Light"/>
              </a:rPr>
              <a:t>— Elon Musk, SpaceX-Mission Statement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5532120"/>
            <a:ext cx="457200" cy="36576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56235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MISSION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9436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billiger fliegen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89120" y="5532120"/>
            <a:ext cx="457200" cy="36576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89120" y="56235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VISION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0" y="59436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Mars besiedeln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1040" y="5532120"/>
            <a:ext cx="457200" cy="36576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21040" y="56235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METHODE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21040" y="59436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wiederverwenden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04 · VISION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07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05   ·   DIE RAKETEN-FAMILIE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2006 –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5F7FA"/>
                </a:solidFill>
                <a:latin typeface="Calibri Light"/>
              </a:rPr>
              <a:t>Vier Größen.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574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68780" y="5193188"/>
            <a:ext cx="502920" cy="476092"/>
          </a:xfrm>
          <a:prstGeom prst="rect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1668780" y="4781708"/>
            <a:ext cx="502920" cy="457200"/>
          </a:xfrm>
          <a:prstGeom prst="triangle">
            <a:avLst/>
          </a:prstGeom>
          <a:solidFill>
            <a:srgbClr val="9AA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40080" y="5669280"/>
            <a:ext cx="2560320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 spc="200">
                <a:solidFill>
                  <a:srgbClr val="F5F7FA"/>
                </a:solidFill>
                <a:latin typeface="Calibri"/>
              </a:rPr>
              <a:t>FALCON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AA3B2"/>
                </a:solidFill>
                <a:latin typeface="Calibri"/>
              </a:rPr>
              <a:t>21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AA3B2"/>
                </a:solidFill>
                <a:latin typeface="Calibri"/>
              </a:rPr>
              <a:t>0,67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6751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E61E2B"/>
                </a:solidFill>
                <a:latin typeface="Calibri"/>
              </a:rPr>
              <a:t>ab 2006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3420" y="4082305"/>
            <a:ext cx="502920" cy="15869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>
            <a:off x="4503420" y="3670825"/>
            <a:ext cx="502920" cy="457200"/>
          </a:xfrm>
          <a:prstGeom prst="triangle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474720" y="5669280"/>
            <a:ext cx="2560320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47472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 spc="200">
                <a:solidFill>
                  <a:srgbClr val="F5F7FA"/>
                </a:solidFill>
                <a:latin typeface="Calibri"/>
              </a:rPr>
              <a:t>FALCON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61264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AA3B2"/>
                </a:solidFill>
                <a:latin typeface="Calibri"/>
              </a:rPr>
              <a:t>70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64008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AA3B2"/>
                </a:solidFill>
                <a:latin typeface="Calibri"/>
              </a:rPr>
              <a:t>22,8 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66751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E61E2B"/>
                </a:solidFill>
                <a:latin typeface="Calibri"/>
              </a:rPr>
              <a:t>ab 2010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38060" y="4082305"/>
            <a:ext cx="502920" cy="1586975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Isosceles Triangle 23"/>
          <p:cNvSpPr/>
          <p:nvPr/>
        </p:nvSpPr>
        <p:spPr>
          <a:xfrm>
            <a:off x="7338060" y="3670825"/>
            <a:ext cx="502920" cy="457200"/>
          </a:xfrm>
          <a:prstGeom prst="triangle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309360" y="5669280"/>
            <a:ext cx="2560320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 spc="200">
                <a:solidFill>
                  <a:srgbClr val="F5F7FA"/>
                </a:solidFill>
                <a:latin typeface="Calibri"/>
              </a:rPr>
              <a:t>FALCON HEAVY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61264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AA3B2"/>
                </a:solidFill>
                <a:latin typeface="Calibri"/>
              </a:rPr>
              <a:t>70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64008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AA3B2"/>
                </a:solidFill>
                <a:latin typeface="Calibri"/>
              </a:rPr>
              <a:t>63,8 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66751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E61E2B"/>
                </a:solidFill>
                <a:latin typeface="Calibri"/>
              </a:rPr>
              <a:t>ab 2018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72700" y="2926080"/>
            <a:ext cx="502920" cy="274320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>
            <a:off x="10172700" y="2514600"/>
            <a:ext cx="502920" cy="457200"/>
          </a:xfrm>
          <a:prstGeom prst="triangle">
            <a:avLst/>
          </a:prstGeom>
          <a:solidFill>
            <a:srgbClr val="E61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9144000" y="5669280"/>
            <a:ext cx="2560320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0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 spc="200">
                <a:solidFill>
                  <a:srgbClr val="F5F7FA"/>
                </a:solidFill>
                <a:latin typeface="Calibri"/>
              </a:rPr>
              <a:t>STARSHIP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61264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AA3B2"/>
                </a:solidFill>
                <a:latin typeface="Calibri"/>
              </a:rPr>
              <a:t>121 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64008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AA3B2"/>
                </a:solidFill>
                <a:latin typeface="Calibri"/>
              </a:rPr>
              <a:t>&gt;100 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66751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 spc="200">
                <a:solidFill>
                  <a:srgbClr val="E61E2B"/>
                </a:solidFill>
                <a:latin typeface="Calibri"/>
              </a:rPr>
              <a:t>ab 2023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05 · RAKETEN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08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05   ·   FALCON 9 – DAS ARBEITSPFERD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seit 2010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F5F7FA"/>
                </a:solidFill>
                <a:latin typeface="Calibri Light"/>
              </a:rPr>
              <a:t>Falcon 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9AA3B2"/>
                </a:solidFill>
                <a:latin typeface="Calibri Light"/>
              </a:rPr>
              <a:t>Die meistgenutzte Rakete der Welt.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08960"/>
            <a:ext cx="5943600" cy="3017520"/>
          </a:xfrm>
          <a:prstGeom prst="rect">
            <a:avLst/>
          </a:prstGeom>
          <a:solidFill>
            <a:srgbClr val="0B101C"/>
          </a:solidFill>
          <a:ln w="19050">
            <a:solidFill>
              <a:srgbClr val="E61E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57200" y="3108960"/>
            <a:ext cx="5943600" cy="301752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57200" y="3108960"/>
            <a:ext cx="5943600" cy="301752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108960" y="3794760"/>
            <a:ext cx="640080" cy="457200"/>
          </a:xfrm>
          <a:prstGeom prst="roundRect">
            <a:avLst/>
          </a:prstGeom>
          <a:noFill/>
          <a:ln w="190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10128" y="3913632"/>
            <a:ext cx="237744" cy="219456"/>
          </a:xfrm>
          <a:prstGeom prst="ellipse">
            <a:avLst/>
          </a:prstGeom>
          <a:noFill/>
          <a:ln w="1524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3891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 spc="400">
                <a:solidFill>
                  <a:srgbClr val="F5F7FA"/>
                </a:solidFill>
                <a:latin typeface="Calibri"/>
              </a:rPr>
              <a:t>BILD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5394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Falcon 9 Start bei Nacht</a:t>
            </a:r>
          </a:p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(SpaceX Flickr, CC-BY-NC)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806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06878"/>
                </a:solidFill>
                <a:latin typeface="Calibri"/>
              </a:rPr>
              <a:t>Querformat 16:9 oder 4:3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128016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0896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300">
                <a:solidFill>
                  <a:srgbClr val="F5F7FA"/>
                </a:solidFill>
                <a:latin typeface="Calibri"/>
              </a:rPr>
              <a:t>BILD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108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DATEN</a:t>
            </a:r>
          </a:p>
        </p:txBody>
      </p:sp>
      <p:sp>
        <p:nvSpPr>
          <p:cNvPr id="20" name="Oval 19"/>
          <p:cNvSpPr/>
          <p:nvPr/>
        </p:nvSpPr>
        <p:spPr>
          <a:xfrm>
            <a:off x="6675120" y="376732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36576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70 m hoch</a:t>
            </a:r>
          </a:p>
        </p:txBody>
      </p:sp>
      <p:sp>
        <p:nvSpPr>
          <p:cNvPr id="22" name="Oval 21"/>
          <p:cNvSpPr/>
          <p:nvPr/>
        </p:nvSpPr>
        <p:spPr>
          <a:xfrm>
            <a:off x="6675120" y="427024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4160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9 × Merlin-Triebwerke</a:t>
            </a:r>
          </a:p>
        </p:txBody>
      </p:sp>
      <p:sp>
        <p:nvSpPr>
          <p:cNvPr id="24" name="Oval 23"/>
          <p:cNvSpPr/>
          <p:nvPr/>
        </p:nvSpPr>
        <p:spPr>
          <a:xfrm>
            <a:off x="6675120" y="477316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46634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Nutzlast: 22,8 t (LEO)</a:t>
            </a:r>
          </a:p>
        </p:txBody>
      </p:sp>
      <p:sp>
        <p:nvSpPr>
          <p:cNvPr id="26" name="Oval 25"/>
          <p:cNvSpPr/>
          <p:nvPr/>
        </p:nvSpPr>
        <p:spPr>
          <a:xfrm>
            <a:off x="6675120" y="527608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51663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Booster: bis zu 20 Flüge</a:t>
            </a:r>
          </a:p>
        </p:txBody>
      </p:sp>
      <p:sp>
        <p:nvSpPr>
          <p:cNvPr id="28" name="Oval 27"/>
          <p:cNvSpPr/>
          <p:nvPr/>
        </p:nvSpPr>
        <p:spPr>
          <a:xfrm>
            <a:off x="6675120" y="577900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56692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Preis: ~ 67 Mio. $ / Start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05 · FALCON 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09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06   ·   WIEDERVERWENDBARKEIT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5F7FA"/>
                </a:solidFill>
                <a:latin typeface="Calibri Light"/>
              </a:rPr>
              <a:t>Die Revolution.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9AA3B2"/>
                </a:solidFill>
                <a:latin typeface="Calibri"/>
              </a:rPr>
              <a:t>KOSTEN PRO KG IN DEN ORBIT (USD)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669280"/>
            <a:ext cx="7315200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83920" y="3512793"/>
            <a:ext cx="1170432" cy="2156487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1040" y="3147033"/>
            <a:ext cx="15361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54500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040" y="5715000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Space Shuttle</a:t>
            </a:r>
          </a:p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1981–2011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98192" y="5273595"/>
            <a:ext cx="1170432" cy="395685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15312" y="4907835"/>
            <a:ext cx="15361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10000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5312" y="5715000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Ariane 5</a:t>
            </a:r>
          </a:p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1996–2023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12464" y="5561654"/>
            <a:ext cx="1170432" cy="107626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5195894"/>
            <a:ext cx="15361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2720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5715000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Falcon 9</a:t>
            </a:r>
          </a:p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seit 2010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6736" y="5613884"/>
            <a:ext cx="1170432" cy="55396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3856" y="5248124"/>
            <a:ext cx="15361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1400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43856" y="5715000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Falcon Heavy</a:t>
            </a:r>
          </a:p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seit 2018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41008" y="5661367"/>
            <a:ext cx="1170432" cy="7913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8128" y="5295607"/>
            <a:ext cx="15361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8128" y="5715000"/>
            <a:ext cx="1536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Starship</a:t>
            </a:r>
          </a:p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Ziel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3108960"/>
            <a:ext cx="3291840" cy="2560320"/>
          </a:xfrm>
          <a:prstGeom prst="rect">
            <a:avLst/>
          </a:prstGeom>
          <a:solidFill>
            <a:srgbClr val="180E12"/>
          </a:solidFill>
          <a:ln w="1270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32461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KERNAUSSAGE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65760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5F7FA"/>
                </a:solidFill>
                <a:latin typeface="Calibri Light"/>
              </a:rPr>
              <a:t>−95 %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5F7FA"/>
                </a:solidFill>
                <a:latin typeface="Calibri Light"/>
              </a:rPr>
              <a:t>Kosten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5303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AA3B2"/>
                </a:solidFill>
                <a:latin typeface="Calibri Light"/>
              </a:rPr>
              <a:t>vs. Space Shuttle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06878"/>
                </a:solidFill>
                <a:latin typeface="Calibri"/>
              </a:rPr>
              <a:t>Quelle: NASA, CSIS Aerospace Reports 2024.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06 · WIEDERVERWENDBARKEIT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669" y="4695711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20162" y="4927341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88401" y="3990991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23476" y="789564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378927" y="760599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44351" y="351317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99992" y="5485499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06381" y="1321156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4766" y="529865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91165" y="2029565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3528" y="2737147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76948" y="4354728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35044" y="4192401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25874" y="3836361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24614" y="4624368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61324" y="2644736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49285" y="24957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10713" y="3358797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84621" y="560581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2" y="1790981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85078" y="3149613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42931" y="612690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30111" y="6530622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52123" y="73101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4166" y="3439756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133703" y="5930880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4844" y="3900198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443360" y="4691707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37345" y="1599576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33520" y="5399873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24540" y="3529553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26408" y="6739504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29348" y="1767565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00194" y="5384107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6451" y="1227744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333178" y="80322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71504" y="3239428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511915" y="1750981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077080" y="130099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236159" y="5218966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852776" y="4057775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77633" y="1533670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214548" y="1915818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170040" y="1592163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52487" y="4646711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513081" y="4047639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070878" y="397633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9219" y="4297952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820881" y="3285070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007044" y="4118802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943283" y="6042761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831854" y="4020659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332593" y="5153147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63484" y="1711098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60217" y="2258162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78601" y="50713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730535" y="3093595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07521" y="773363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555547" y="2776335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596773" y="4378341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05   ·   STARSHIP – DIE ZUKUNFT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Test-Flüge seit 2023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0" b="1" i="0">
                <a:solidFill>
                  <a:srgbClr val="F5F7FA"/>
                </a:solidFill>
                <a:latin typeface="Calibri Light"/>
              </a:rPr>
              <a:t>Starship.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2468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9AA3B2"/>
                </a:solidFill>
                <a:latin typeface="Calibri Light"/>
              </a:rPr>
              <a:t>Die größte Rakete aller Zeiten.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75120" y="3108960"/>
            <a:ext cx="5029200" cy="3108960"/>
          </a:xfrm>
          <a:prstGeom prst="rect">
            <a:avLst/>
          </a:prstGeom>
          <a:solidFill>
            <a:srgbClr val="0B101C"/>
          </a:solidFill>
          <a:ln w="19050">
            <a:solidFill>
              <a:srgbClr val="E61E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6675120" y="3108960"/>
            <a:ext cx="5029200" cy="310896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675120" y="3108960"/>
            <a:ext cx="5029200" cy="310896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8869680" y="3840480"/>
            <a:ext cx="640080" cy="457200"/>
          </a:xfrm>
          <a:prstGeom prst="roundRect">
            <a:avLst/>
          </a:prstGeom>
          <a:noFill/>
          <a:ln w="190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070848" y="3959352"/>
            <a:ext cx="237744" cy="219456"/>
          </a:xfrm>
          <a:prstGeom prst="ellipse">
            <a:avLst/>
          </a:prstGeom>
          <a:noFill/>
          <a:ln w="1524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75120" y="44348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 spc="400">
                <a:solidFill>
                  <a:srgbClr val="F5F7FA"/>
                </a:solidFill>
                <a:latin typeface="Calibri"/>
              </a:rPr>
              <a:t>BILD 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80060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Starship Vollstack auf Starbase</a:t>
            </a:r>
          </a:p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(SpaceX Flickr)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92640" y="5897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06878"/>
                </a:solidFill>
                <a:latin typeface="Calibri"/>
              </a:rPr>
              <a:t>Hochformat ideal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5120" y="3108960"/>
            <a:ext cx="128016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75120" y="310896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300">
                <a:solidFill>
                  <a:srgbClr val="F5F7FA"/>
                </a:solidFill>
                <a:latin typeface="Calibri"/>
              </a:rPr>
              <a:t>BILD 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7200" y="3108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ZAHLEN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36118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61E2B"/>
                </a:solidFill>
                <a:latin typeface="Calibri"/>
              </a:rPr>
              <a:t>121 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468880" y="37490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höher als Freiheitsstatue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4206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61E2B"/>
                </a:solidFill>
                <a:latin typeface="Calibri"/>
              </a:rPr>
              <a:t>&gt;100 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68880" y="434340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Nutzlast in den Orbit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" y="48006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61E2B"/>
                </a:solidFill>
                <a:latin typeface="Calibri"/>
              </a:rPr>
              <a:t>33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468880" y="49377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Raptor-Triebwerke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53949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61E2B"/>
                </a:solidFill>
                <a:latin typeface="Calibri"/>
              </a:rPr>
              <a:t>0 $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468880" y="5532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Wegwerf-Hardware (Ziel)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05 · STARSHIP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11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07   ·   DRAGON &amp; CREW DRAGON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seit 2012 /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F5F7FA"/>
                </a:solidFill>
                <a:latin typeface="Calibri Light"/>
              </a:rPr>
              <a:t>Dragon.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9AA3B2"/>
                </a:solidFill>
                <a:latin typeface="Calibri Light"/>
              </a:rPr>
              <a:t>Fracht und Menschen ins 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08960"/>
            <a:ext cx="5486400" cy="320040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91840"/>
            <a:ext cx="5120640" cy="1828800"/>
          </a:xfrm>
          <a:prstGeom prst="rect">
            <a:avLst/>
          </a:prstGeom>
          <a:solidFill>
            <a:srgbClr val="0B101C"/>
          </a:solidFill>
          <a:ln w="19050">
            <a:solidFill>
              <a:srgbClr val="E61E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40080" y="3291840"/>
            <a:ext cx="5120640" cy="182880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40080" y="3291840"/>
            <a:ext cx="5120640" cy="182880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3383280"/>
            <a:ext cx="640080" cy="457200"/>
          </a:xfrm>
          <a:prstGeom prst="roundRect">
            <a:avLst/>
          </a:prstGeom>
          <a:noFill/>
          <a:ln w="190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81528" y="3502152"/>
            <a:ext cx="237744" cy="219456"/>
          </a:xfrm>
          <a:prstGeom prst="ellipse">
            <a:avLst/>
          </a:prstGeom>
          <a:noFill/>
          <a:ln w="1524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 spc="400">
                <a:solidFill>
                  <a:srgbClr val="F5F7FA"/>
                </a:solidFill>
                <a:latin typeface="Calibri"/>
              </a:rPr>
              <a:t>BILD 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434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Cargo Dragon (Andocken ISS)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4800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06878"/>
                </a:solidFill>
                <a:latin typeface="Calibri"/>
              </a:rPr>
              <a:t>16:9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91840"/>
            <a:ext cx="128016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291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300">
                <a:solidFill>
                  <a:srgbClr val="F5F7FA"/>
                </a:solidFill>
                <a:latin typeface="Calibri"/>
              </a:rPr>
              <a:t>BILD 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CARGO DRAGON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32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 Light"/>
              </a:rPr>
              <a:t>Versorgt ISS · seit 2012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3B2"/>
                </a:solidFill>
                <a:latin typeface="Calibri Light"/>
              </a:rPr>
              <a:t>bis 6.000 kg Fracht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3108960"/>
            <a:ext cx="5486400" cy="320040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28232" y="3291840"/>
            <a:ext cx="5120640" cy="1828800"/>
          </a:xfrm>
          <a:prstGeom prst="rect">
            <a:avLst/>
          </a:prstGeom>
          <a:solidFill>
            <a:srgbClr val="0B101C"/>
          </a:solidFill>
          <a:ln w="19050">
            <a:solidFill>
              <a:srgbClr val="E61E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428232" y="3291840"/>
            <a:ext cx="5120640" cy="182880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428232" y="3291840"/>
            <a:ext cx="5120640" cy="182880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68512" y="3383280"/>
            <a:ext cx="640080" cy="457200"/>
          </a:xfrm>
          <a:prstGeom prst="roundRect">
            <a:avLst/>
          </a:prstGeom>
          <a:noFill/>
          <a:ln w="190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69680" y="3502152"/>
            <a:ext cx="237744" cy="219456"/>
          </a:xfrm>
          <a:prstGeom prst="ellipse">
            <a:avLst/>
          </a:prstGeom>
          <a:noFill/>
          <a:ln w="1524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39776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 spc="400">
                <a:solidFill>
                  <a:srgbClr val="F5F7FA"/>
                </a:solidFill>
                <a:latin typeface="Calibri"/>
              </a:rPr>
              <a:t>BILD 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2552" y="43434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Crew Dragon mit Astronauten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37192" y="4800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06878"/>
                </a:solidFill>
                <a:latin typeface="Calibri"/>
              </a:rPr>
              <a:t>16:9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28232" y="3291840"/>
            <a:ext cx="128016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8232" y="3291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300">
                <a:solidFill>
                  <a:srgbClr val="F5F7FA"/>
                </a:solidFill>
                <a:latin typeface="Calibri"/>
              </a:rPr>
              <a:t>BILD 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5212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CREW DRAGON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5532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 Light"/>
              </a:rPr>
              <a:t>Astronauten · seit 2020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8978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AA3B2"/>
                </a:solidFill>
                <a:latin typeface="Calibri Light"/>
              </a:rPr>
              <a:t>4 Sitzplätze · Inspiration4 (zivil)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07 · DRAGON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12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345441" y="2439052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115934" y="5469454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8933" y="1888803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43616" y="1092306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588772" y="6246930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40716" y="1059453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2135" y="2313887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03186" y="3783814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40541" y="6658629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926335" y="4083452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07116" y="5626477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14679" y="2632021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4568" y="4988496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91758" y="3761262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62470" y="3694172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39016" y="449609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9510" y="1505016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49866" y="3113118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58583" y="2349956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83851" y="4117608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85108" y="1977013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47841" y="1099758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25856" y="5277155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6591" y="6030419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773276" y="1189047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467827" y="5360786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37226" y="6176157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06752" y="5917267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730076" y="6010530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809492" y="5062524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27281" y="1775999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45457" y="5887083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28911" y="4890770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26632" y="1527993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59574" y="6605202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883413" y="1892112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99860" y="5398294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15323" y="5831404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755575" y="5411423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9904" y="1061028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45844" y="2529191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20341" y="5863703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58016" y="3076083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363414" y="2808109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1219" y="4469171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42207" y="5616189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32504" y="3155523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635331" y="6193924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136372" y="5738207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27823" y="4932601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097972" y="4966815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19991" y="5374616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39329" y="2658635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55541" y="575273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8715" y="5480615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41438" y="4032692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584568" y="514205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297438" y="1149142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877949" y="309168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166628" y="2544711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880988" y="279967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672026" y="3028505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818645" y="4892954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889507" y="4488344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4993" y="2707121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107819" y="41430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512378" y="752324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180566" y="2893841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87702" y="6026163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005066" y="4361202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617958" y="3297440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178972" y="435756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301189" y="4478263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653004" y="2512496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997126" y="2187487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3844" y="255062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61435" y="898875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51304" y="762796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119395" y="1346701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2012822" y="5878962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08   ·   STARLINK – INTERNET AUS DEM ALL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seit 2019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F5F7FA"/>
                </a:solidFill>
                <a:latin typeface="Calibri Light"/>
              </a:rPr>
              <a:t>Starlink.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" y="2423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9AA3B2"/>
                </a:solidFill>
                <a:latin typeface="Calibri Light"/>
              </a:rPr>
              <a:t>Wachstum, das es noch nie gab.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9AA3B2"/>
                </a:solidFill>
                <a:latin typeface="Calibri"/>
              </a:rPr>
              <a:t>AKTIVE STARLINK-SATELLITEN IM ORBIT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57200" y="5852160"/>
            <a:ext cx="7772400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642257" y="5837004"/>
            <a:ext cx="898848" cy="1515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59377" y="5471244"/>
            <a:ext cx="1264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9377" y="5897880"/>
            <a:ext cx="12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2019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726163" y="5610925"/>
            <a:ext cx="898848" cy="241235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543283" y="5245165"/>
            <a:ext cx="1264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955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43283" y="5897880"/>
            <a:ext cx="12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2020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810069" y="5361100"/>
            <a:ext cx="898848" cy="49106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627189" y="4995340"/>
            <a:ext cx="1264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1944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27189" y="5897880"/>
            <a:ext cx="12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2021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893975" y="5025896"/>
            <a:ext cx="898848" cy="826264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11095" y="4660136"/>
            <a:ext cx="1264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3271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711095" y="5897880"/>
            <a:ext cx="12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2022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977881" y="4516143"/>
            <a:ext cx="898848" cy="1336017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95001" y="4150383"/>
            <a:ext cx="1264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5289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95001" y="5897880"/>
            <a:ext cx="12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2023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061787" y="4134460"/>
            <a:ext cx="898848" cy="17177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878907" y="3768700"/>
            <a:ext cx="1264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6800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878907" y="5897880"/>
            <a:ext cx="12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2024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145693" y="3957638"/>
            <a:ext cx="898848" cy="189452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962813" y="3591878"/>
            <a:ext cx="1264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7500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962813" y="5897880"/>
            <a:ext cx="12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2025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9536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WAS DAS BEDEUTET</a:t>
            </a:r>
          </a:p>
        </p:txBody>
      </p:sp>
      <p:sp>
        <p:nvSpPr>
          <p:cNvPr id="113" name="Oval 112"/>
          <p:cNvSpPr/>
          <p:nvPr/>
        </p:nvSpPr>
        <p:spPr>
          <a:xfrm>
            <a:off x="8595360" y="363016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869680" y="3520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 Light"/>
              </a:rPr>
              <a:t>Empfang in 100+ Ländern</a:t>
            </a:r>
          </a:p>
        </p:txBody>
      </p:sp>
      <p:sp>
        <p:nvSpPr>
          <p:cNvPr id="115" name="Oval 114"/>
          <p:cNvSpPr/>
          <p:nvPr/>
        </p:nvSpPr>
        <p:spPr>
          <a:xfrm>
            <a:off x="8595360" y="413308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869680" y="4023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 Light"/>
              </a:rPr>
              <a:t>~ 50 ms Latenz</a:t>
            </a:r>
          </a:p>
        </p:txBody>
      </p:sp>
      <p:sp>
        <p:nvSpPr>
          <p:cNvPr id="117" name="Oval 116"/>
          <p:cNvSpPr/>
          <p:nvPr/>
        </p:nvSpPr>
        <p:spPr>
          <a:xfrm>
            <a:off x="8595360" y="463600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869680" y="45262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 Light"/>
              </a:rPr>
              <a:t>~ 550 km Flughöhe</a:t>
            </a:r>
          </a:p>
        </p:txBody>
      </p:sp>
      <p:sp>
        <p:nvSpPr>
          <p:cNvPr id="119" name="Oval 118"/>
          <p:cNvSpPr/>
          <p:nvPr/>
        </p:nvSpPr>
        <p:spPr>
          <a:xfrm>
            <a:off x="8595360" y="513892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69680" y="50292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 Light"/>
              </a:rPr>
              <a:t>wichtig im Ukraine-Krieg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720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06878"/>
                </a:solidFill>
                <a:latin typeface="Calibri"/>
              </a:rPr>
              <a:t>Quelle: Jonathan McDowell / planet4589.org · SpaceX.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08 · STARLINK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13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QUIZ · FÜR EUCH!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5F7FA"/>
                </a:solidFill>
                <a:latin typeface="Calibri Light"/>
              </a:rPr>
              <a:t>Wie hoch ist Starship?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474720"/>
            <a:ext cx="777240" cy="5486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47472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5661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72 m   – wie Falcon 9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4114800"/>
            <a:ext cx="777240" cy="5486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11480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2062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98 m   – wie eine Saturn 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4754879"/>
            <a:ext cx="777240" cy="5486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4754879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846319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121 m – höher als Freiheitsstatue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5394959"/>
            <a:ext cx="777240" cy="5486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5394959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5486399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 Light"/>
              </a:rPr>
              <a:t>180 m – höher als Kölner Dom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AA3B2"/>
                </a:solidFill>
                <a:latin typeface="Calibri Light"/>
              </a:rPr>
              <a:t>→ Auflösung kommt auf der nächsten Folie.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INTERAKTIV · QUIZ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14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09   ·   SPACEX IN ZAHLEN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2010 –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828800" cy="457200"/>
          </a:xfrm>
          <a:prstGeom prst="round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200">
                <a:solidFill>
                  <a:srgbClr val="F5F7FA"/>
                </a:solidFill>
                <a:latin typeface="Calibri"/>
              </a:rPr>
              <a:t>✓ Lösung: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5F7FA"/>
                </a:solidFill>
                <a:latin typeface="Calibri Light"/>
              </a:rPr>
              <a:t>Starts pro Jahr.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57200" y="5669280"/>
            <a:ext cx="7772400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38162" y="5645100"/>
            <a:ext cx="399752" cy="241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282" y="5279340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282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8877" y="5669280"/>
            <a:ext cx="399752" cy="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997" y="5303520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997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99592" y="5645100"/>
            <a:ext cx="399752" cy="241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12" y="5279340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12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80307" y="5633009"/>
            <a:ext cx="399752" cy="36271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97427" y="5267249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97427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1021" y="5596738"/>
            <a:ext cx="399752" cy="7254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78141" y="5230978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78141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41736" y="5584648"/>
            <a:ext cx="399752" cy="8463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58856" y="5218888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58856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22451" y="5560467"/>
            <a:ext cx="399752" cy="108813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39571" y="5194707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9571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03166" y="5451653"/>
            <a:ext cx="399752" cy="217627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20286" y="5085893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20286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3881" y="5415382"/>
            <a:ext cx="399752" cy="25389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01001" y="5049622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1001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64596" y="5512105"/>
            <a:ext cx="399752" cy="1571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81716" y="5146345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1716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45310" y="5354930"/>
            <a:ext cx="399752" cy="3143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62430" y="4989170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2430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'20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26025" y="5294478"/>
            <a:ext cx="399752" cy="37480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43145" y="4928718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43145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'21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6740" y="4931766"/>
            <a:ext cx="399752" cy="73751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3860" y="4566006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3860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87455" y="4508602"/>
            <a:ext cx="399752" cy="116067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04575" y="4142842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4575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'23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68170" y="4049167"/>
            <a:ext cx="399752" cy="1620113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85290" y="3683407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134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85290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'24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48885" y="3613912"/>
            <a:ext cx="399752" cy="2055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66005" y="3248152"/>
            <a:ext cx="765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AA3B2"/>
                </a:solidFill>
                <a:latin typeface="Calibri"/>
              </a:rPr>
              <a:t>170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66005" y="5715000"/>
            <a:ext cx="765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F5F7FA"/>
                </a:solidFill>
                <a:latin typeface="Calibri"/>
              </a:rPr>
              <a:t>'25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95360" y="3108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DAS GROSSE BILD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95360" y="3611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450+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95360" y="4114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 Light"/>
              </a:rPr>
              <a:t>Falcon-Starts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95360" y="43891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400+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9536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 Light"/>
              </a:rPr>
              <a:t>Landungen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95360" y="5166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~87 %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0" y="5669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 Light"/>
              </a:rPr>
              <a:t>Welt-Orbit-Anteil 2024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06878"/>
                </a:solidFill>
                <a:latin typeface="Calibri"/>
              </a:rPr>
              <a:t>Quelle: SpaceX-Statistik · BryceTech Start Report 2024.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09 · SPACEX IN ZAHLEN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09   ·   WER MACHT KONKURRENZ?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5F7FA"/>
                </a:solidFill>
                <a:latin typeface="Calibri Light"/>
              </a:rPr>
              <a:t>Im Vergleich.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E61E2B"/>
                </a:solidFill>
                <a:latin typeface="Calibri"/>
              </a:rPr>
              <a:t>AKTEUR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743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E61E2B"/>
                </a:solidFill>
                <a:latin typeface="Calibri"/>
              </a:rPr>
              <a:t>HEIMAT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743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E61E2B"/>
                </a:solidFill>
                <a:latin typeface="Calibri"/>
              </a:rPr>
              <a:t>STÄRKE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E61E2B"/>
                </a:solidFill>
                <a:latin typeface="Calibri"/>
              </a:rPr>
              <a:t>SCHWÄCHE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3154680"/>
            <a:ext cx="11274552" cy="0"/>
          </a:xfrm>
          <a:prstGeom prst="line">
            <a:avLst/>
          </a:prstGeom>
          <a:ln w="12700">
            <a:solidFill>
              <a:srgbClr val="E61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33375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Calibri Light"/>
              </a:rPr>
              <a:t>SpaceX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3375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USA · privat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3375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Wiederverwendung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33375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Macht in einer Hand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3840480"/>
            <a:ext cx="11274552" cy="0"/>
          </a:xfrm>
          <a:prstGeom prst="line">
            <a:avLst/>
          </a:prstGeom>
          <a:ln w="6350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397764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Calibri Light"/>
              </a:rPr>
              <a:t>NASA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9776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USA · Staat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9776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Wissenschaft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97764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langsam, teuer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4480560"/>
            <a:ext cx="11274552" cy="0"/>
          </a:xfrm>
          <a:prstGeom prst="line">
            <a:avLst/>
          </a:prstGeom>
          <a:ln w="6350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46177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Calibri Light"/>
              </a:rPr>
              <a:t>Blue Origin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USA · privat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Investor Bezos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6177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wenig Orbit-Erfahrung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5120640"/>
            <a:ext cx="11274552" cy="0"/>
          </a:xfrm>
          <a:prstGeom prst="line">
            <a:avLst/>
          </a:prstGeom>
          <a:ln w="6350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52578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Calibri Light"/>
              </a:rPr>
              <a:t>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2578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Europa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578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Forschung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52578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kaum wiederverwendbar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5760720"/>
            <a:ext cx="11274552" cy="0"/>
          </a:xfrm>
          <a:prstGeom prst="line">
            <a:avLst/>
          </a:prstGeom>
          <a:ln w="6350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58978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Calibri Light"/>
              </a:rPr>
              <a:t>CNSA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8978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China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8978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eigene Raumstation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58978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3B2"/>
                </a:solidFill>
                <a:latin typeface="Calibri Light"/>
              </a:rPr>
              <a:t>wenig Transparenz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WETTBEWERB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16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57436" y="347429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859107" y="1465391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062806" y="5548083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1924" y="2087950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39156" y="2117148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46223" y="5741454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07561" y="462366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97813" y="1265970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76649" y="6725935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53863" y="4529540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16835" y="580311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73447" y="4255444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65368" y="1187886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90446" y="2821778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44359" y="4795791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9901" y="421910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732074" y="6495927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008858" y="982218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70308" y="4420106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82878" y="538867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31700" y="4660261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72413" y="2098596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835477" y="2674950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578960" y="4822721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22239" y="81900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2376" y="3918812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49230" y="5310844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26755" y="2598690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2000887" y="4067685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465450" y="4406105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61431" y="4067541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69518" y="153751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530029" y="567329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2683" y="4504497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04307" y="414757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556795" y="5799301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030203" y="3386335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095607" y="714319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055125" y="1886900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663301" y="1370774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2161246" y="4083689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161821" y="1866245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51468" y="5258053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06704" y="6305986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102423" y="2669630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035468" y="238051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527596" y="4357412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515448" y="4853515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877201" y="5142010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888410" y="6331573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278238" y="2982282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567400" y="4350636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76286" y="1611361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85690" y="6417213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778526" y="3737609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996835" y="4608473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3004" y="2468240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37349" y="3920609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544169" y="434545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84380" y="5596383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10   ·   ZUKUNFT – MARS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Ziel ab ~2030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b="1" i="0">
                <a:solidFill>
                  <a:srgbClr val="F5F7FA"/>
                </a:solidFill>
                <a:latin typeface="Calibri Light"/>
              </a:rPr>
              <a:t>Ziel: Mars.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2468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9AA3B2"/>
                </a:solidFill>
                <a:latin typeface="Calibri Light"/>
              </a:rPr>
              <a:t>Eine Stadt auf einem anderen Planeten.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75120" y="3108960"/>
            <a:ext cx="5029200" cy="3108960"/>
          </a:xfrm>
          <a:prstGeom prst="rect">
            <a:avLst/>
          </a:prstGeom>
          <a:solidFill>
            <a:srgbClr val="0B101C"/>
          </a:solidFill>
          <a:ln w="19050">
            <a:solidFill>
              <a:srgbClr val="E61E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6675120" y="3108960"/>
            <a:ext cx="5029200" cy="310896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675120" y="3108960"/>
            <a:ext cx="5029200" cy="310896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8869680" y="3840480"/>
            <a:ext cx="640080" cy="457200"/>
          </a:xfrm>
          <a:prstGeom prst="roundRect">
            <a:avLst/>
          </a:prstGeom>
          <a:noFill/>
          <a:ln w="190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070848" y="3959352"/>
            <a:ext cx="237744" cy="219456"/>
          </a:xfrm>
          <a:prstGeom prst="ellipse">
            <a:avLst/>
          </a:prstGeom>
          <a:noFill/>
          <a:ln w="1524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75120" y="44348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 spc="400">
                <a:solidFill>
                  <a:srgbClr val="F5F7FA"/>
                </a:solidFill>
                <a:latin typeface="Calibri"/>
              </a:rPr>
              <a:t>BILD 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80060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Mars / SpaceX-Mars-Konzept</a:t>
            </a:r>
          </a:p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(NASA Image Library, CC0)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92640" y="5897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06878"/>
                </a:solidFill>
                <a:latin typeface="Calibri"/>
              </a:rPr>
              <a:t>Querformat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5120" y="3108960"/>
            <a:ext cx="128016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75120" y="310896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300">
                <a:solidFill>
                  <a:srgbClr val="F5F7FA"/>
                </a:solidFill>
                <a:latin typeface="Calibri"/>
              </a:rPr>
              <a:t>BILD 07</a:t>
            </a:r>
          </a:p>
        </p:txBody>
      </p:sp>
      <p:sp>
        <p:nvSpPr>
          <p:cNvPr id="79" name="Oval 78"/>
          <p:cNvSpPr/>
          <p:nvPr/>
        </p:nvSpPr>
        <p:spPr>
          <a:xfrm>
            <a:off x="457200" y="3200400"/>
            <a:ext cx="502920" cy="502920"/>
          </a:xfrm>
          <a:prstGeom prst="ellipse">
            <a:avLst/>
          </a:prstGeom>
          <a:noFill/>
          <a:ln w="19050">
            <a:solidFill>
              <a:srgbClr val="E6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3200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61E2B"/>
                </a:solidFill>
                <a:latin typeface="Calibr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872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E61E2B"/>
                </a:solidFill>
                <a:latin typeface="Calibri"/>
              </a:rPr>
              <a:t>PHASE 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88720" y="34290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Vorrats-Flüge</a:t>
            </a:r>
          </a:p>
        </p:txBody>
      </p:sp>
      <p:sp>
        <p:nvSpPr>
          <p:cNvPr id="83" name="Oval 82"/>
          <p:cNvSpPr/>
          <p:nvPr/>
        </p:nvSpPr>
        <p:spPr>
          <a:xfrm>
            <a:off x="457200" y="3977639"/>
            <a:ext cx="502920" cy="502920"/>
          </a:xfrm>
          <a:prstGeom prst="ellipse">
            <a:avLst/>
          </a:prstGeom>
          <a:noFill/>
          <a:ln w="19050">
            <a:solidFill>
              <a:srgbClr val="E6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720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61E2B"/>
                </a:solidFill>
                <a:latin typeface="Calibr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88720" y="39319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E61E2B"/>
                </a:solidFill>
                <a:latin typeface="Calibri"/>
              </a:rPr>
              <a:t>PHASE 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88720" y="420623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Erste Crew</a:t>
            </a:r>
          </a:p>
        </p:txBody>
      </p:sp>
      <p:sp>
        <p:nvSpPr>
          <p:cNvPr id="87" name="Oval 86"/>
          <p:cNvSpPr/>
          <p:nvPr/>
        </p:nvSpPr>
        <p:spPr>
          <a:xfrm>
            <a:off x="457200" y="4754880"/>
            <a:ext cx="502920" cy="502920"/>
          </a:xfrm>
          <a:prstGeom prst="ellipse">
            <a:avLst/>
          </a:prstGeom>
          <a:noFill/>
          <a:ln w="19050">
            <a:solidFill>
              <a:srgbClr val="E6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7200" y="47548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61E2B"/>
                </a:solidFill>
                <a:latin typeface="Calibri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8872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E61E2B"/>
                </a:solidFill>
                <a:latin typeface="Calibri"/>
              </a:rPr>
              <a:t>PHASE 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88720" y="49834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Treibstoff auf Mars</a:t>
            </a:r>
          </a:p>
        </p:txBody>
      </p:sp>
      <p:sp>
        <p:nvSpPr>
          <p:cNvPr id="91" name="Oval 90"/>
          <p:cNvSpPr/>
          <p:nvPr/>
        </p:nvSpPr>
        <p:spPr>
          <a:xfrm>
            <a:off x="457200" y="5532120"/>
            <a:ext cx="502920" cy="502920"/>
          </a:xfrm>
          <a:prstGeom prst="ellipse">
            <a:avLst/>
          </a:prstGeom>
          <a:noFill/>
          <a:ln w="19050">
            <a:solidFill>
              <a:srgbClr val="E61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57200" y="55321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61E2B"/>
                </a:solidFill>
                <a:latin typeface="Calibri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88720" y="5486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E61E2B"/>
                </a:solidFill>
                <a:latin typeface="Calibri"/>
              </a:rPr>
              <a:t>PHASE 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88720" y="5760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Selbsterhaltende Kolonie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10 · MARS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17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10   ·   VORHER: ZUM 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457200"/>
            <a:ext cx="1828800" cy="365760"/>
          </a:xfrm>
          <a:prstGeom prst="roundRect">
            <a:avLst/>
          </a:prstGeom>
          <a:noFill/>
          <a:ln w="63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200">
                <a:solidFill>
                  <a:srgbClr val="F5F7FA"/>
                </a:solidFill>
                <a:latin typeface="Calibri"/>
              </a:rPr>
              <a:t>Artemis III ab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5F7FA"/>
                </a:solidFill>
                <a:latin typeface="Calibri Light"/>
              </a:rPr>
              <a:t>Zuerst zum Mond.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574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5029200" cy="3383280"/>
          </a:xfrm>
          <a:prstGeom prst="rect">
            <a:avLst/>
          </a:prstGeom>
          <a:solidFill>
            <a:srgbClr val="0B101C"/>
          </a:solidFill>
          <a:ln w="19050">
            <a:solidFill>
              <a:srgbClr val="E61E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57200" y="2743200"/>
            <a:ext cx="5029200" cy="338328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57200" y="2743200"/>
            <a:ext cx="5029200" cy="3383280"/>
          </a:xfrm>
          <a:prstGeom prst="line">
            <a:avLst/>
          </a:prstGeom>
          <a:ln w="6350">
            <a:solidFill>
              <a:srgbClr val="1A22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51760" y="3611880"/>
            <a:ext cx="640080" cy="457200"/>
          </a:xfrm>
          <a:prstGeom prst="roundRect">
            <a:avLst/>
          </a:prstGeom>
          <a:noFill/>
          <a:ln w="190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52928" y="3730752"/>
            <a:ext cx="237744" cy="219456"/>
          </a:xfrm>
          <a:prstGeom prst="ellipse">
            <a:avLst/>
          </a:prstGeom>
          <a:noFill/>
          <a:ln w="1524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062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 spc="400">
                <a:solidFill>
                  <a:srgbClr val="F5F7FA"/>
                </a:solidFill>
                <a:latin typeface="Calibri"/>
              </a:rPr>
              <a:t>BILD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AA3B2"/>
                </a:solidFill>
                <a:latin typeface="Calibri Light"/>
              </a:rPr>
              <a:t>Starship-HLS Mondlander (NASA-Konzept)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806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06878"/>
                </a:solidFill>
                <a:latin typeface="Calibri"/>
              </a:rPr>
              <a:t>Querformat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43200"/>
            <a:ext cx="128016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300">
                <a:solidFill>
                  <a:srgbClr val="F5F7FA"/>
                </a:solidFill>
                <a:latin typeface="Calibri"/>
              </a:rPr>
              <a:t>BILD 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743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5F7FA"/>
                </a:solidFill>
                <a:latin typeface="Calibri Light"/>
              </a:rPr>
              <a:t>ARTEMIS III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00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AA3B2"/>
                </a:solidFill>
                <a:latin typeface="Calibri Light"/>
              </a:rPr>
              <a:t>NASA-Programm · SpaceX baut Lander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390448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79476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 Light"/>
              </a:rPr>
              <a:t>1. Mondlandung seit 1972</a:t>
            </a:r>
          </a:p>
        </p:txBody>
      </p:sp>
      <p:sp>
        <p:nvSpPr>
          <p:cNvPr id="23" name="Oval 22"/>
          <p:cNvSpPr/>
          <p:nvPr/>
        </p:nvSpPr>
        <p:spPr>
          <a:xfrm>
            <a:off x="5943600" y="436168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425196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 Light"/>
              </a:rPr>
              <a:t>Vertrag SpaceX: ~4 Mrd. $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0" y="481888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470916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 Light"/>
              </a:rPr>
              <a:t>Erstmals eine Frau auf dem Mond</a:t>
            </a:r>
          </a:p>
        </p:txBody>
      </p:sp>
      <p:sp>
        <p:nvSpPr>
          <p:cNvPr id="27" name="Oval 26"/>
          <p:cNvSpPr/>
          <p:nvPr/>
        </p:nvSpPr>
        <p:spPr>
          <a:xfrm>
            <a:off x="5943600" y="527608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516636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 Light"/>
              </a:rPr>
              <a:t>Ziel: dauerhafte Mond-Basis (Südpol)</a:t>
            </a:r>
          </a:p>
        </p:txBody>
      </p:sp>
      <p:sp>
        <p:nvSpPr>
          <p:cNvPr id="29" name="Oval 28"/>
          <p:cNvSpPr/>
          <p:nvPr/>
        </p:nvSpPr>
        <p:spPr>
          <a:xfrm>
            <a:off x="5943600" y="5733288"/>
            <a:ext cx="109728" cy="109728"/>
          </a:xfrm>
          <a:prstGeom prst="ellipse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562356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 Light"/>
              </a:rPr>
              <a:t>Starship als „Mondfähre“ (HLS)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10 · MOND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18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11   ·   WAS BRINGT UNS DAS?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5F7FA"/>
                </a:solidFill>
                <a:latin typeface="Calibri Light"/>
              </a:rPr>
              <a:t>Was haben wir davon?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3703320" cy="14630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61E2B"/>
                </a:solidFill>
                <a:latin typeface="Calibri"/>
              </a:rPr>
              <a:t>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8892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Internet überall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4612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 Light"/>
              </a:rPr>
              <a:t>Starlink für Dörfer, Wüsten, Krisengebiete.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606040"/>
            <a:ext cx="3703320" cy="14630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61E2B"/>
                </a:solidFill>
                <a:latin typeface="Calibri"/>
              </a:rPr>
              <a:t>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8892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Forschung im 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24612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 Light"/>
              </a:rPr>
              <a:t>Experimente in Schwerelosigkeit auf der ISS.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606040"/>
            <a:ext cx="3703320" cy="14630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61E2B"/>
                </a:solidFill>
                <a:latin typeface="Calibri"/>
              </a:rPr>
              <a:t>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78892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Erdbeobachtung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24612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 Light"/>
              </a:rPr>
              <a:t>Wetter, Klima, Landwirtschaft – günstig.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60"/>
            <a:ext cx="3703320" cy="14630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89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61E2B"/>
                </a:solidFill>
                <a:latin typeface="Calibri"/>
              </a:rPr>
              <a:t>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3484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Raumfahrt für alle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89204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 Light"/>
              </a:rPr>
              <a:t>Unis &amp; Start-ups können sich Starts leisten.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4251960"/>
            <a:ext cx="3703320" cy="14630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4389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61E2B"/>
                </a:solidFill>
                <a:latin typeface="Calibri"/>
              </a:rPr>
              <a:t>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443484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Neue Jobs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89204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 Light"/>
              </a:rPr>
              <a:t>Ingenieure, Informatiker, Materialwissen.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251960"/>
            <a:ext cx="3703320" cy="146304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4389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61E2B"/>
                </a:solidFill>
                <a:latin typeface="Calibri"/>
              </a:rPr>
              <a:t>🛰️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443484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GPS &amp; Co.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489204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3B2"/>
                </a:solidFill>
                <a:latin typeface="Calibri Light"/>
              </a:rPr>
              <a:t>Wir nutzen Satelliten täglich – meist unsichtbar.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11 · PRAXIS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11   ·   TIPPS · SELBST AKTIV WERDEN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5F7FA"/>
                </a:solidFill>
                <a:latin typeface="Calibri Light"/>
              </a:rPr>
              <a:t>Probiert es aus.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2697480" cy="338328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45720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5F7FA"/>
                </a:solidFill>
                <a:latin typeface="Calibri"/>
              </a:rPr>
              <a:t>BEOBACHTEN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39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Starlink am Himmel sehen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AA3B2"/>
                </a:solidFill>
                <a:latin typeface="Calibri Light"/>
              </a:rPr>
              <a:t>App „Heavens-Above“ oder „Starlink Tracker“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743200"/>
            <a:ext cx="2697480" cy="338328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743200"/>
            <a:ext cx="45720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880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2918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5F7FA"/>
                </a:solidFill>
                <a:latin typeface="Calibri"/>
              </a:rPr>
              <a:t>ZUSCHAUEN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749039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Raketenstarts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2120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AA3B2"/>
                </a:solidFill>
                <a:latin typeface="Calibri Light"/>
              </a:rPr>
              <a:t>SpaceX-Stream auf X / YouTube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743200"/>
            <a:ext cx="2697480" cy="338328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45720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80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918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5F7FA"/>
                </a:solidFill>
                <a:latin typeface="Calibri"/>
              </a:rPr>
              <a:t>LERNEN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Selber bauen / simulieren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120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AA3B2"/>
                </a:solidFill>
                <a:latin typeface="Calibri Light"/>
              </a:rPr>
              <a:t>Estes-Modellraketen · Kerbal Space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2743200"/>
            <a:ext cx="2697480" cy="3383280"/>
          </a:xfrm>
          <a:prstGeom prst="rect">
            <a:avLst/>
          </a:prstGeom>
          <a:solidFill>
            <a:srgbClr val="0E1422"/>
          </a:solidFill>
          <a:ln w="12700">
            <a:solidFill>
              <a:srgbClr val="2B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280" y="2743200"/>
            <a:ext cx="45720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880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2918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5F7FA"/>
                </a:solidFill>
                <a:latin typeface="Calibri"/>
              </a:rPr>
              <a:t>MITREDEN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3749039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Quellen vergleichen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52120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AA3B2"/>
                </a:solidFill>
                <a:latin typeface="Calibri Light"/>
              </a:rPr>
              <a:t>SpaceX vs. NASA vs. ESA prüfen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11 · TIPPS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E61E2B"/>
                </a:solidFill>
                <a:latin typeface="Calibri"/>
              </a:rPr>
              <a:t>SPRECHER: BEN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20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12   ·   KRITIK &amp; RISIKEN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5F7FA"/>
                </a:solidFill>
                <a:latin typeface="Calibri Light"/>
              </a:rPr>
              <a:t>Nicht alles ist Glanz.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3703320" cy="1463040"/>
          </a:xfrm>
          <a:prstGeom prst="rect">
            <a:avLst/>
          </a:prstGeom>
          <a:solidFill>
            <a:srgbClr val="181012"/>
          </a:solidFill>
          <a:ln w="63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WELTRAUMMÜLL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7.000+ Satelliten → Kollisions-Risiko.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651760"/>
            <a:ext cx="3703320" cy="1463040"/>
          </a:xfrm>
          <a:prstGeom prst="rect">
            <a:avLst/>
          </a:prstGeom>
          <a:solidFill>
            <a:srgbClr val="181012"/>
          </a:solidFill>
          <a:ln w="63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83464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ASTRONOMIE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9184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Helle Streifen auf Teleskopbildern.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651760"/>
            <a:ext cx="3703320" cy="1463040"/>
          </a:xfrm>
          <a:prstGeom prst="rect">
            <a:avLst/>
          </a:prstGeom>
          <a:solidFill>
            <a:srgbClr val="181012"/>
          </a:solidFill>
          <a:ln w="63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83464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UMWELT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29184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Lärm, Schutzgebiete, CO₂ in Texas.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3703320" cy="1463040"/>
          </a:xfrm>
          <a:prstGeom prst="rect">
            <a:avLst/>
          </a:prstGeom>
          <a:solidFill>
            <a:srgbClr val="181012"/>
          </a:solidFill>
          <a:ln w="63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4805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MONOPOL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Eine Firma dominiert den Markt.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4297680"/>
            <a:ext cx="3703320" cy="1463040"/>
          </a:xfrm>
          <a:prstGeom prst="rect">
            <a:avLst/>
          </a:prstGeom>
          <a:solidFill>
            <a:srgbClr val="181012"/>
          </a:solidFill>
          <a:ln w="63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44805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PERSON MUSK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93776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Politische Aussagen polarisieren.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4297680"/>
            <a:ext cx="3703320" cy="1463040"/>
          </a:xfrm>
          <a:prstGeom prst="rect">
            <a:avLst/>
          </a:prstGeom>
          <a:solidFill>
            <a:srgbClr val="181012"/>
          </a:solidFill>
          <a:ln w="6350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44805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E61E2B"/>
                </a:solidFill>
                <a:latin typeface="Calibri"/>
              </a:rPr>
              <a:t>VERSPRECHEN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93776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 Light"/>
              </a:rPr>
              <a:t>„Mars bis 2024“ – immer wieder verschoben.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12 · KRITIK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21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54994" y="2035219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01654" y="1545631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29034" y="289947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17531" y="416589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005394" y="4630497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14387" y="5940098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7666" y="494555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71908" y="1594949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78162" y="4453029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6294" y="5858480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17232" y="2167707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42416" y="6552422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86112" y="2344833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607942" y="1552130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44824" y="4461200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20890" y="4246981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69298" y="3332545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55744" y="4725066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74303" y="211419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93088" y="4708551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72450" y="6354759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69614" y="739115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67650" y="826874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4067" y="1652108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21943" y="56688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45444" y="1437773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12520" y="292878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92958" y="5280988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0341" y="526960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856160" y="6199536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37582" y="84723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91185" y="102334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27182" y="362552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872137" y="439525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768161" y="5736584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988847" y="6100648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980379" y="2967665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43283" y="1002287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88750" y="2938097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713880" y="815797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DISKUTIERT MIT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114300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1737360"/>
            <a:ext cx="112471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5F7FA"/>
                </a:solidFill>
                <a:latin typeface="Calibri Light"/>
              </a:rPr>
              <a:t>Darf eine</a:t>
            </a:r>
          </a:p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5F7FA"/>
                </a:solidFill>
                <a:latin typeface="Calibri Light"/>
              </a:rPr>
              <a:t>private Firma</a:t>
            </a:r>
          </a:p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5F7FA"/>
                </a:solidFill>
                <a:latin typeface="Calibri Light"/>
              </a:rPr>
              <a:t>den Weltraum lenken?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212080"/>
            <a:ext cx="5486400" cy="1280160"/>
          </a:xfrm>
          <a:prstGeom prst="rect">
            <a:avLst/>
          </a:prstGeom>
          <a:solidFill>
            <a:srgbClr val="0C1810"/>
          </a:solidFill>
          <a:ln w="952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349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4A9EFF"/>
                </a:solidFill>
                <a:latin typeface="Calibri"/>
              </a:rPr>
              <a:t>PRO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6692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schneller · günstiger · innovativer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45352" y="5212080"/>
            <a:ext cx="5486400" cy="1280160"/>
          </a:xfrm>
          <a:prstGeom prst="rect">
            <a:avLst/>
          </a:prstGeom>
          <a:solidFill>
            <a:srgbClr val="180C10"/>
          </a:solidFill>
          <a:ln w="9525">
            <a:solidFill>
              <a:srgbClr val="E61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9672" y="5349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E61E2B"/>
                </a:solidFill>
                <a:latin typeface="Calibri"/>
              </a:rPr>
              <a:t>CONTRA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9672" y="56692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Calibri Light"/>
              </a:rPr>
              <a:t>Abhängigkeit · Macht · Politik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INTERAKTIV · DISKUSSION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FF7A2A"/>
                </a:solidFill>
                <a:latin typeface="Calibri"/>
              </a:rPr>
              <a:t>SPRECHER: BEIDE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22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13   ·   FAZIT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5F7FA"/>
                </a:solidFill>
                <a:latin typeface="Calibri Light"/>
              </a:rPr>
              <a:t>Drei Sätze zum Mitnehmen.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371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E61E2B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418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F5F7FA"/>
                </a:solidFill>
                <a:latin typeface="Calibri Light"/>
              </a:rPr>
              <a:t>SpaceX hat Raumfahrt billiger gemacht.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1371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E61E2B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023360"/>
            <a:ext cx="9418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F5F7FA"/>
                </a:solidFill>
                <a:latin typeface="Calibri Light"/>
              </a:rPr>
              <a:t>Heute der größte Akteur im Orbit.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371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E61E2B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5212080"/>
            <a:ext cx="9418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F5F7FA"/>
                </a:solidFill>
                <a:latin typeface="Calibri Light"/>
              </a:rPr>
              <a:t>Mond, Mars, Internet: das Jahrzehnt entscheidet.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FAZIT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FF7A2A"/>
                </a:solidFill>
                <a:latin typeface="Calibri"/>
              </a:rPr>
              <a:t>SPRECHER: BEIDE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23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45720" cy="32004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spc="400">
                <a:solidFill>
                  <a:srgbClr val="9AA3B2"/>
                </a:solidFill>
                <a:latin typeface="Calibri"/>
              </a:rPr>
              <a:t>14   ·   QUELLEN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5F7FA"/>
                </a:solidFill>
                <a:latin typeface="Calibri Light"/>
              </a:rPr>
              <a:t>Quellen &amp; weiterführende Links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54864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SpaceX – Offiziell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1576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https://www.spacex.com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718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NASA – Commercial Crew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1868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https://www.nasa.gov/commercial-crew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NASA – Artemis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2160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https://www.nasa.gov/humans-in-space/artemis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7764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ESA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2452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https://www.esa.int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805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DLR (Deutschland)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274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https://www.dlr.de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9834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BryceTech – Start Reports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3036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https://brycetech.com/reports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4688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Spiegel – Weltall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1576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https://www.spiegel.de/wissenschaft/weltall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9718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Tagesschau – Raumfahrt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21868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https://www.tagesschau.de/wissen/raumfahrt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4747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Reuters – Aerospace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72160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https://www.reuters.com/business/aerospace-defense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97764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BBC – Science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22452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https://www.bbc.com/news/science_and_environment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4805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Wikipedia – SpaceX (DE)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7274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https://de.wikipedia.org/wiki/SpaceX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9834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 Light"/>
              </a:rPr>
              <a:t>J. McDowell – Satellite Tracker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523036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9EFF"/>
                </a:solidFill>
                <a:latin typeface="Calibri Light"/>
              </a:rPr>
              <a:t>https://planet4589.org/space/stats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AA3B2"/>
                </a:solidFill>
                <a:latin typeface="Calibri"/>
              </a:rPr>
              <a:t>Abgerufen: Mai 2026.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9525">
            <a:solidFill>
              <a:srgbClr val="2B3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300">
                <a:solidFill>
                  <a:srgbClr val="9AA3B2"/>
                </a:solidFill>
                <a:latin typeface="Calibri"/>
              </a:rPr>
              <a:t>QUELLEN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510528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 spc="300">
                <a:solidFill>
                  <a:srgbClr val="4A9EFF"/>
                </a:solidFill>
                <a:latin typeface="Calibri"/>
              </a:rPr>
              <a:t>SPRECHER: JULIUS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0152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spc="300">
                <a:solidFill>
                  <a:srgbClr val="9AA3B2"/>
                </a:solidFill>
                <a:latin typeface="Calibri"/>
              </a:rPr>
              <a:t>24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77627" y="3193984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99805" y="1931583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52545" y="2106807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05557" y="5740396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7202" y="5233817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73933" y="6058467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35493" y="6648928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48249" y="1783341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82490" y="1501568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930" y="6011947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73076" y="3934584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5572" y="2259884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3772" y="1709299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55874" y="3876264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158757" y="388141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66605" y="1810457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10741" y="4994724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77989" y="1476587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90973" y="143602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030041" y="680820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43157" y="1198829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92" y="3196575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81229" y="3400156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44694" y="1773646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51483" y="3389565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660146" y="3994180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052140" y="5030380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01127" y="3425064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91703" y="1205127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980397" y="3438277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11443" y="2676859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21788" y="983256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380399" y="607246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87040" y="4913145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629283" y="3162289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00989" y="3237499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965205" y="777324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257827" y="6053722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862279" y="2612369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961623" y="6039518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540739" y="6045881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937763" y="5656411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34977" y="2486188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45330" y="3532519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441467" y="2458112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004382" y="4473175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229670" y="2440098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250940" y="1337310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379019" y="5690414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186740" y="5996392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72398" y="282567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2331" y="5595715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56011" y="1621324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879957" y="6622743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025425" y="3495639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879506" y="3424614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709219" y="30352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921258" y="1698675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209909" y="5639665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575102" y="6583979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427616" y="6279518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852147" y="4700751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398581" y="6441288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823510" y="1680109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764149" y="6764377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739358" y="268107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028474" y="3097296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1927189" y="4932596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254845" y="6347352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684823" y="6620695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31315" y="276032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491840" y="5827059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015611" y="4713415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037099" y="209855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770570" y="4803850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081380" y="4019598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991883" y="5578526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919834" y="2009684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58586" y="963577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210378" y="2816482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6111" y="4778301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19651" y="5314246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353364" y="3472370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284258" y="4933700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06356" y="400609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858019" y="4657906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366557" y="482400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52051" y="6755801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131271" y="144147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019914" y="306325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325914" y="6506112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774576" y="2966902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366722" y="6236292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2159252" y="1054447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9004" y="725686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8352" y="318133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2028292" y="1942436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252338" y="1351478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744554" y="6789975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153952" y="2579206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864550" y="1229482"/>
            <a:ext cx="19050" cy="190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744978" y="612948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322273" y="5722053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508456" y="3723275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345177" y="6855722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47860" y="3129923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886756" y="382525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41923" y="2521931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89407" y="2396157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867109" y="1036872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213005" y="338016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175041" y="5734065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139917" y="2742696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541160" y="511933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2529118" y="5818601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844829" y="6198754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94502" y="6002994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793265" y="3408122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056147" y="5434190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9515724" y="788164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488549" y="24087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015664" y="5278619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271460" y="1537096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497231" y="27008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438571" y="3320424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778914" y="4934413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292485" y="1108036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526626" y="3100219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902730" y="6154172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496347" y="6001787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257345" y="1691781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76183" y="6192068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517576" y="2151918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654123" y="5639259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96018" y="1969141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804654" y="5763792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6634218" y="4398758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053742" y="2101324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5606762" y="4158200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533711" y="248304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042761" y="2644014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123979" y="245663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271965" y="2138393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97200" y="2477427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115964" y="956940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530333" y="1193635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906289" y="2184209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935415" y="22831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2367874" y="5102510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02987" y="3010142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109700" y="4515712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61322" y="24367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726541" y="2881993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82099" y="5410738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911995" y="5515405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607740" y="6098149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109335" y="4683770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814949" y="2204722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5785997" y="6781347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911534" y="2042415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3686057" y="224025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719137" y="2273154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483521" y="2039305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159463" y="3730447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0098600" y="6238646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6432779" y="1022989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4736182" y="4145530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7144058" y="6660714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45681" y="5074879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775714" y="2403630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42885" y="4957915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8222239" y="2839457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685744" y="166408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402814" y="5320406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227476" y="3551454"/>
            <a:ext cx="28575" cy="285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836756" y="4854774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036141" y="670536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417144" y="5601632"/>
            <a:ext cx="28575" cy="2857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13407" y="3604712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262174" y="6492109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973552" y="5919534"/>
            <a:ext cx="19050" cy="1905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196977" y="1549637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0600017" y="807721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8831305" y="2549205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2655945" y="6316038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074346" y="294660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171696" y="2103968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154716" y="2439050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649149" y="6456017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514125" y="2116300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645452" y="1546587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500088" y="1596560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160091" y="6727448"/>
            <a:ext cx="19050" cy="19050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0295386" y="2978468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84003" y="1902493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425698" y="4805932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2162108" y="6588459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9742867" y="6655785"/>
            <a:ext cx="9525" cy="9525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081528" y="741747"/>
            <a:ext cx="19050" cy="19050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789421" y="701783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477798" y="6515297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3215637" y="960766"/>
            <a:ext cx="9525" cy="9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325415" y="5939754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9310876" y="5675806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493130" y="5170888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21814" y="1828849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616644" y="4227316"/>
            <a:ext cx="9525" cy="952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0883732" y="2098064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0343895" y="2931344"/>
            <a:ext cx="9525" cy="952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193079" y="360849"/>
            <a:ext cx="28575" cy="28575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1672912" y="4641524"/>
            <a:ext cx="28575" cy="2857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3501392" y="6802876"/>
            <a:ext cx="28575" cy="2857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0147881" y="3562270"/>
            <a:ext cx="28575" cy="28575"/>
          </a:xfrm>
          <a:prstGeom prst="ellips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744671" y="5064507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963593" y="6111005"/>
            <a:ext cx="19050" cy="1905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5146622" y="172336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957111" y="2886019"/>
            <a:ext cx="9525" cy="9525"/>
          </a:xfrm>
          <a:prstGeom prst="ellipse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316782" y="384132"/>
            <a:ext cx="9525" cy="9525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361395" y="5650668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6088846" y="1451128"/>
            <a:ext cx="19050" cy="1905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457200" y="237744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0" b="1" i="0">
                <a:solidFill>
                  <a:srgbClr val="F5F7FA"/>
                </a:solidFill>
                <a:latin typeface="Calibri"/>
              </a:rPr>
              <a:t>Fragen?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5632704" y="4754880"/>
            <a:ext cx="914400" cy="45720"/>
          </a:xfrm>
          <a:prstGeom prst="rect">
            <a:avLst/>
          </a:prstGeom>
          <a:solidFill>
            <a:srgbClr val="E6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9AA3B2"/>
                </a:solidFill>
                <a:latin typeface="Calibri Light"/>
              </a:rPr>
              <a:t>Wir freuen uns auf eure Diskussion.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 spc="400">
                <a:solidFill>
                  <a:srgbClr val="F5F7FA"/>
                </a:solidFill>
                <a:latin typeface="Calibri"/>
              </a:rPr>
              <a:t>JULIUS MÜLLER   ·   BEN HAMMEN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